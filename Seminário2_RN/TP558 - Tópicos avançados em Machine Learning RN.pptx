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18288000" cy="10287000"/>
  <p:notesSz cx="6858000" cy="9144000"/>
  <p:embeddedFontLst>
    <p:embeddedFont>
      <p:font typeface="Calibri (MS) Light" charset="1" panose="020F0302020204030204"/>
      <p:regular r:id="rId68"/>
    </p:embeddedFont>
    <p:embeddedFont>
      <p:font typeface="Calibri (MS) Bold" charset="1" panose="020F0702030404030204"/>
      <p:regular r:id="rId69"/>
    </p:embeddedFont>
    <p:embeddedFont>
      <p:font typeface="Libre Baskerville" charset="1" panose="02000000000000000000"/>
      <p:regular r:id="rId70"/>
    </p:embeddedFont>
    <p:embeddedFont>
      <p:font typeface="Libre Baskerville Bold" charset="1" panose="02000000000000000000"/>
      <p:regular r:id="rId71"/>
    </p:embeddedFont>
    <p:embeddedFont>
      <p:font typeface="Noto Kufi Arabic" charset="1" panose="020B0506030804020204"/>
      <p:regular r:id="rId72"/>
    </p:embeddedFont>
    <p:embeddedFont>
      <p:font typeface="Open Sans Bold" charset="1" panose="020B0806030504020204"/>
      <p:regular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fonts/font68.fntdata" Type="http://schemas.openxmlformats.org/officeDocument/2006/relationships/font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73" Target="fonts/font73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https://pyimagesearch.com/2020/11/30/siamese-networks-with-keras-tensorflow-and-deep-learning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rxiv.org/pdf/1711.06025" TargetMode="External" Type="http://schemas.openxmlformats.org/officeDocument/2006/relationships/hyperlink"/><Relationship Id="rId3" Target="https://github.com/floodsung" TargetMode="External" Type="http://schemas.openxmlformats.org/officeDocument/2006/relationships/hyperlink"/><Relationship Id="rId4" Target="https://pyimagesearch.com/2020/11/30/siamese-networks-with-keras-tensorflow-and-deep-learning/" TargetMode="External" Type="http://schemas.openxmlformats.org/officeDocument/2006/relationships/hyperlink"/><Relationship Id="rId5" Target="https://www.cs.cmu.edu/~rsalakhu/papers/oneshot1.pdf" TargetMode="External" Type="http://schemas.openxmlformats.org/officeDocument/2006/relationships/hyperlink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"/>
          <p:cNvSpPr/>
          <p:nvPr/>
        </p:nvSpPr>
        <p:spPr>
          <a:xfrm flipH="false" flipV="false" rot="0">
            <a:off x="589959" y="8670903"/>
            <a:ext cx="3392043" cy="1015651"/>
          </a:xfrm>
          <a:custGeom>
            <a:avLst/>
            <a:gdLst/>
            <a:ahLst/>
            <a:cxnLst/>
            <a:rect r="r" b="b" t="t" l="l"/>
            <a:pathLst>
              <a:path h="1015651" w="3392043">
                <a:moveTo>
                  <a:pt x="0" y="0"/>
                </a:moveTo>
                <a:lnTo>
                  <a:pt x="3392043" y="0"/>
                </a:lnTo>
                <a:lnTo>
                  <a:pt x="3392043" y="1015651"/>
                </a:lnTo>
                <a:lnTo>
                  <a:pt x="0" y="101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76" r="-3" b="-68355"/>
            </a:stretch>
          </a:blipFill>
        </p:spPr>
      </p:sp>
      <p:sp>
        <p:nvSpPr>
          <p:cNvPr name="Freeform 3" id="3" descr="Image result for machine learning"/>
          <p:cNvSpPr/>
          <p:nvPr/>
        </p:nvSpPr>
        <p:spPr>
          <a:xfrm flipH="false" flipV="false" rot="0">
            <a:off x="7594206" y="5831843"/>
            <a:ext cx="3099559" cy="3064859"/>
          </a:xfrm>
          <a:custGeom>
            <a:avLst/>
            <a:gdLst/>
            <a:ahLst/>
            <a:cxnLst/>
            <a:rect r="r" b="b" t="t" l="l"/>
            <a:pathLst>
              <a:path h="3064859" w="3099559">
                <a:moveTo>
                  <a:pt x="0" y="0"/>
                </a:moveTo>
                <a:lnTo>
                  <a:pt x="3099559" y="0"/>
                </a:lnTo>
                <a:lnTo>
                  <a:pt x="3099559" y="3064859"/>
                </a:lnTo>
                <a:lnTo>
                  <a:pt x="0" y="3064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934" t="-9450" r="-22288" b="-698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5981" y="1606797"/>
            <a:ext cx="13793400" cy="447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1"/>
              </a:lnSpc>
            </a:pPr>
            <a:r>
              <a:rPr lang="en-US" sz="7800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TP558 - Tópicos avançados em Machine Learning:</a:t>
            </a:r>
          </a:p>
          <a:p>
            <a:pPr algn="ctr">
              <a:lnSpc>
                <a:spcPts val="8624"/>
              </a:lnSpc>
            </a:pPr>
            <a:r>
              <a:rPr lang="en-US" b="true" sz="8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Learn</a:t>
            </a:r>
            <a:r>
              <a:rPr lang="en-US" b="true" sz="8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 to Compare: Relation Network for Few-Shot Learning.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51169" y="3822135"/>
            <a:ext cx="234296" cy="122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6"/>
              </a:lnSpc>
            </a:pPr>
            <a:r>
              <a:rPr lang="en-US" b="true" sz="8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16746" y="8343900"/>
            <a:ext cx="693192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Ana Cecília Silveira Fernandes ana.fernandes@mtel.inatel.br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113" y="4239892"/>
            <a:ext cx="7021325" cy="158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b="true" sz="9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Introdução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241" y="7671011"/>
            <a:ext cx="2475212" cy="2298853"/>
          </a:xfrm>
          <a:custGeom>
            <a:avLst/>
            <a:gdLst/>
            <a:ahLst/>
            <a:cxnLst/>
            <a:rect r="r" b="b" t="t" l="l"/>
            <a:pathLst>
              <a:path h="2298853" w="2475212">
                <a:moveTo>
                  <a:pt x="0" y="0"/>
                </a:moveTo>
                <a:lnTo>
                  <a:pt x="2475212" y="0"/>
                </a:lnTo>
                <a:lnTo>
                  <a:pt x="2475212" y="2298854"/>
                </a:lnTo>
                <a:lnTo>
                  <a:pt x="0" y="2298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30668" y="423651"/>
            <a:ext cx="3290837" cy="2237769"/>
          </a:xfrm>
          <a:custGeom>
            <a:avLst/>
            <a:gdLst/>
            <a:ahLst/>
            <a:cxnLst/>
            <a:rect r="r" b="b" t="t" l="l"/>
            <a:pathLst>
              <a:path h="2237769" w="3290837">
                <a:moveTo>
                  <a:pt x="0" y="0"/>
                </a:moveTo>
                <a:lnTo>
                  <a:pt x="3290837" y="0"/>
                </a:lnTo>
                <a:lnTo>
                  <a:pt x="3290837" y="2237769"/>
                </a:lnTo>
                <a:lnTo>
                  <a:pt x="0" y="2237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17982" y="2585220"/>
            <a:ext cx="13758105" cy="443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6208" indent="-388104" lvl="1">
              <a:lnSpc>
                <a:spcPts val="5033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 aprendizado de máquina, sabemos que bo</a:t>
            </a:r>
            <a:r>
              <a:rPr lang="en-US" sz="35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ns modelos geralmente precisam de grandes quantidades de dados rotulados e muito poder computacional. </a:t>
            </a:r>
          </a:p>
          <a:p>
            <a:pPr algn="l" marL="776208" indent="-388104" lvl="1">
              <a:lnSpc>
                <a:spcPts val="5033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Muitos problemas práticos envolvem conjuntos de dados pequenos. O aprendizado profundo irá sobreajustar (overfit) esses conjuntos de dados e não irá generalizar.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14566" y="7747863"/>
            <a:ext cx="1544734" cy="2025880"/>
          </a:xfrm>
          <a:custGeom>
            <a:avLst/>
            <a:gdLst/>
            <a:ahLst/>
            <a:cxnLst/>
            <a:rect r="r" b="b" t="t" l="l"/>
            <a:pathLst>
              <a:path h="2025880" w="1544734">
                <a:moveTo>
                  <a:pt x="0" y="0"/>
                </a:moveTo>
                <a:lnTo>
                  <a:pt x="1544734" y="0"/>
                </a:lnTo>
                <a:lnTo>
                  <a:pt x="1544734" y="2025880"/>
                </a:lnTo>
                <a:lnTo>
                  <a:pt x="0" y="2025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03582" y="5702404"/>
            <a:ext cx="2313777" cy="1862591"/>
          </a:xfrm>
          <a:custGeom>
            <a:avLst/>
            <a:gdLst/>
            <a:ahLst/>
            <a:cxnLst/>
            <a:rect r="r" b="b" t="t" l="l"/>
            <a:pathLst>
              <a:path h="1862591" w="2313777">
                <a:moveTo>
                  <a:pt x="2313778" y="0"/>
                </a:moveTo>
                <a:lnTo>
                  <a:pt x="0" y="0"/>
                </a:lnTo>
                <a:lnTo>
                  <a:pt x="0" y="1862591"/>
                </a:lnTo>
                <a:lnTo>
                  <a:pt x="2313778" y="1862591"/>
                </a:lnTo>
                <a:lnTo>
                  <a:pt x="23137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15708" y="5953584"/>
            <a:ext cx="956514" cy="1102199"/>
          </a:xfrm>
          <a:custGeom>
            <a:avLst/>
            <a:gdLst/>
            <a:ahLst/>
            <a:cxnLst/>
            <a:rect r="r" b="b" t="t" l="l"/>
            <a:pathLst>
              <a:path h="1102199" w="956514">
                <a:moveTo>
                  <a:pt x="0" y="0"/>
                </a:moveTo>
                <a:lnTo>
                  <a:pt x="956514" y="0"/>
                </a:lnTo>
                <a:lnTo>
                  <a:pt x="956514" y="1102199"/>
                </a:lnTo>
                <a:lnTo>
                  <a:pt x="0" y="110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953" r="0" b="-995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57777" y="2885237"/>
            <a:ext cx="11372446" cy="329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000" indent="-405000" lvl="1">
              <a:lnSpc>
                <a:spcPts val="5252"/>
              </a:lnSpc>
              <a:buFont typeface="Arial"/>
              <a:buChar char="•"/>
            </a:pPr>
            <a:r>
              <a:rPr lang="en-US" sz="37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Huma</a:t>
            </a:r>
            <a:r>
              <a:rPr lang="en-US" sz="37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nos se saem bem em tarefas de classificação usando apenas alguns exemplos: uma criança pode selecionar imagens de zebras tendo apenas um único exemplo.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25146">
            <a:off x="1380517" y="4943405"/>
            <a:ext cx="15397410" cy="404182"/>
          </a:xfrm>
          <a:custGeom>
            <a:avLst/>
            <a:gdLst/>
            <a:ahLst/>
            <a:cxnLst/>
            <a:rect r="r" b="b" t="t" l="l"/>
            <a:pathLst>
              <a:path h="404182" w="15397410">
                <a:moveTo>
                  <a:pt x="0" y="0"/>
                </a:moveTo>
                <a:lnTo>
                  <a:pt x="15397410" y="0"/>
                </a:lnTo>
                <a:lnTo>
                  <a:pt x="15397410" y="404182"/>
                </a:lnTo>
                <a:lnTo>
                  <a:pt x="0" y="404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259300" y="7359414"/>
            <a:ext cx="967269" cy="1111804"/>
          </a:xfrm>
          <a:custGeom>
            <a:avLst/>
            <a:gdLst/>
            <a:ahLst/>
            <a:cxnLst/>
            <a:rect r="r" b="b" t="t" l="l"/>
            <a:pathLst>
              <a:path h="1111804" w="967269">
                <a:moveTo>
                  <a:pt x="967269" y="0"/>
                </a:moveTo>
                <a:lnTo>
                  <a:pt x="0" y="0"/>
                </a:lnTo>
                <a:lnTo>
                  <a:pt x="0" y="1111804"/>
                </a:lnTo>
                <a:lnTo>
                  <a:pt x="967269" y="1111804"/>
                </a:lnTo>
                <a:lnTo>
                  <a:pt x="96726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9275" y="866775"/>
            <a:ext cx="1068204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Zero-Shot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8106" y="7701281"/>
            <a:ext cx="1108138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One-Shot Learning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1431" y="255852"/>
            <a:ext cx="967269" cy="1111804"/>
          </a:xfrm>
          <a:custGeom>
            <a:avLst/>
            <a:gdLst/>
            <a:ahLst/>
            <a:cxnLst/>
            <a:rect r="r" b="b" t="t" l="l"/>
            <a:pathLst>
              <a:path h="1111804" w="967269">
                <a:moveTo>
                  <a:pt x="0" y="0"/>
                </a:moveTo>
                <a:lnTo>
                  <a:pt x="967269" y="0"/>
                </a:lnTo>
                <a:lnTo>
                  <a:pt x="967269" y="1111804"/>
                </a:lnTo>
                <a:lnTo>
                  <a:pt x="0" y="1111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7978" y="743845"/>
            <a:ext cx="10372044" cy="9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8"/>
              </a:lnSpc>
            </a:pPr>
            <a:r>
              <a:rPr lang="en-US" b="true" sz="5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Zero-Shot Learning (ZSL)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2540" y="2052235"/>
            <a:ext cx="12502920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Modelo capaz de reconhecer classes nunca vistas no treinamento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Utiliza descrições semânticas (ex.: atributos, embeddings de palavras, textos) para generalizar.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Dispe</a:t>
            </a: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nsa exemplos rotulados das novas classes.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Permite classificar tarefas ou categorias inéditas com base em conhecimento prévio.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Exemplo: reconhecer uma zebra sem nunca ter visto imagens dela, apenas pela descrição “animal parecido com cavalo, mas com listras”.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Aplicações: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NLP → classificação de textos em categorias não vistas, tradução entre idiomas não treinados diretamente.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Visão computacional → identificação de objetos inéditos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Sistemas de recomendação → sugerir itens novos apenas pela descrição.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205" y="653191"/>
            <a:ext cx="14905591" cy="8980618"/>
          </a:xfrm>
          <a:custGeom>
            <a:avLst/>
            <a:gdLst/>
            <a:ahLst/>
            <a:cxnLst/>
            <a:rect r="r" b="b" t="t" l="l"/>
            <a:pathLst>
              <a:path h="8980618" w="14905591">
                <a:moveTo>
                  <a:pt x="0" y="0"/>
                </a:moveTo>
                <a:lnTo>
                  <a:pt x="14905590" y="0"/>
                </a:lnTo>
                <a:lnTo>
                  <a:pt x="14905590" y="8980618"/>
                </a:lnTo>
                <a:lnTo>
                  <a:pt x="0" y="8980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4928" y="4455831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957978" y="743845"/>
            <a:ext cx="10372044" cy="9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8"/>
              </a:lnSpc>
            </a:pPr>
            <a:r>
              <a:rPr lang="en-US" b="true" sz="5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Zero-Shot Learning (ZSL)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51821" y="4474881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86972" y="4455831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8128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62412" y="3568736"/>
            <a:ext cx="23911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Treino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2443" y="3568736"/>
            <a:ext cx="18252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Teste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01830" y="3587786"/>
            <a:ext cx="34563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Resultado</a:t>
            </a:r>
          </a:p>
        </p:txBody>
      </p:sp>
      <p:sp>
        <p:nvSpPr>
          <p:cNvPr name="AutoShape 15" id="15"/>
          <p:cNvSpPr/>
          <p:nvPr/>
        </p:nvSpPr>
        <p:spPr>
          <a:xfrm>
            <a:off x="5670558" y="6036981"/>
            <a:ext cx="161173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0856580" y="6056031"/>
            <a:ext cx="161173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2762412" y="5010906"/>
            <a:ext cx="2517377" cy="196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2811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</a:t>
            </a:r>
            <a:r>
              <a:rPr lang="en-US" sz="2811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elo aprende classes vistas + atributos.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11596" y="4986819"/>
            <a:ext cx="2366550" cy="196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Aparece uma classe não vista (zebra).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58837" y="4986819"/>
            <a:ext cx="2927343" cy="196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</a:t>
            </a:r>
            <a:r>
              <a:rPr lang="en-US" b="true" sz="281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odelo usa atributos para inferir que é uma zebra.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6723" y="923925"/>
            <a:ext cx="10394554" cy="9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8"/>
              </a:lnSpc>
            </a:pPr>
            <a:r>
              <a:rPr lang="en-US" b="true" sz="5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One-Shot Learning (OSL)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5823" y="2397760"/>
            <a:ext cx="14596354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Modelo aprende a reco</a:t>
            </a: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nhecer uma nova classe com apenas 1 exemplo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Muito usado em tarefas de comparação e verificação (ex.: redes siamesas)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Foca em aprender boas representações que permitam medir similaridade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Exemplo: identificar uma nova pessoa com apenas uma foto de referência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Diferença para Zero-Shot: OSL precisa de 1 amostra da nova classe, enquanto ZSL não precisa de nenhuma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Aplicações: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Reconhecimento facial e biometria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Deduplicação de imagens em e-commerce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Assinaturas e verificação de identidade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9149" y="283566"/>
            <a:ext cx="11429701" cy="9719867"/>
          </a:xfrm>
          <a:custGeom>
            <a:avLst/>
            <a:gdLst/>
            <a:ahLst/>
            <a:cxnLst/>
            <a:rect r="r" b="b" t="t" l="l"/>
            <a:pathLst>
              <a:path h="9719867" w="11429701">
                <a:moveTo>
                  <a:pt x="0" y="0"/>
                </a:moveTo>
                <a:lnTo>
                  <a:pt x="11429702" y="0"/>
                </a:lnTo>
                <a:lnTo>
                  <a:pt x="11429702" y="9719868"/>
                </a:lnTo>
                <a:lnTo>
                  <a:pt x="0" y="9719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20682" y="1696002"/>
            <a:ext cx="12249150" cy="7562850"/>
          </a:xfrm>
          <a:custGeom>
            <a:avLst/>
            <a:gdLst/>
            <a:ahLst/>
            <a:cxnLst/>
            <a:rect r="r" b="b" t="t" l="l"/>
            <a:pathLst>
              <a:path h="7562850" w="12249150">
                <a:moveTo>
                  <a:pt x="0" y="0"/>
                </a:moveTo>
                <a:lnTo>
                  <a:pt x="12249150" y="0"/>
                </a:lnTo>
                <a:lnTo>
                  <a:pt x="12249150" y="7562850"/>
                </a:lnTo>
                <a:lnTo>
                  <a:pt x="0" y="7562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69907" y="9994125"/>
            <a:ext cx="9336434" cy="19050"/>
            <a:chOff x="0" y="0"/>
            <a:chExt cx="9336430" cy="19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6405" cy="19050"/>
            </a:xfrm>
            <a:custGeom>
              <a:avLst/>
              <a:gdLst/>
              <a:ahLst/>
              <a:cxnLst/>
              <a:rect r="r" b="b" t="t" l="l"/>
              <a:pathLst>
                <a:path h="19050" w="9336405">
                  <a:moveTo>
                    <a:pt x="0" y="0"/>
                  </a:moveTo>
                  <a:lnTo>
                    <a:pt x="0" y="19050"/>
                  </a:lnTo>
                  <a:lnTo>
                    <a:pt x="286893" y="19050"/>
                  </a:lnTo>
                  <a:lnTo>
                    <a:pt x="286893" y="0"/>
                  </a:lnTo>
                  <a:close/>
                  <a:moveTo>
                    <a:pt x="349250" y="0"/>
                  </a:moveTo>
                  <a:lnTo>
                    <a:pt x="349250" y="19050"/>
                  </a:lnTo>
                  <a:lnTo>
                    <a:pt x="717931" y="19050"/>
                  </a:lnTo>
                  <a:lnTo>
                    <a:pt x="717931" y="0"/>
                  </a:lnTo>
                  <a:close/>
                  <a:moveTo>
                    <a:pt x="780288" y="0"/>
                  </a:moveTo>
                  <a:lnTo>
                    <a:pt x="780288" y="19050"/>
                  </a:lnTo>
                  <a:lnTo>
                    <a:pt x="847090" y="19050"/>
                  </a:lnTo>
                  <a:lnTo>
                    <a:pt x="847090" y="0"/>
                  </a:lnTo>
                  <a:close/>
                  <a:moveTo>
                    <a:pt x="925703" y="0"/>
                  </a:moveTo>
                  <a:lnTo>
                    <a:pt x="925703" y="19050"/>
                  </a:lnTo>
                  <a:lnTo>
                    <a:pt x="1348867" y="19050"/>
                  </a:lnTo>
                  <a:lnTo>
                    <a:pt x="1348867" y="0"/>
                  </a:lnTo>
                  <a:close/>
                  <a:moveTo>
                    <a:pt x="1489456" y="0"/>
                  </a:moveTo>
                  <a:lnTo>
                    <a:pt x="1489456" y="19050"/>
                  </a:lnTo>
                  <a:lnTo>
                    <a:pt x="9111996" y="19050"/>
                  </a:lnTo>
                  <a:lnTo>
                    <a:pt x="9111996" y="0"/>
                  </a:lnTo>
                  <a:close/>
                  <a:moveTo>
                    <a:pt x="9174353" y="0"/>
                  </a:moveTo>
                  <a:lnTo>
                    <a:pt x="9174353" y="19050"/>
                  </a:lnTo>
                  <a:lnTo>
                    <a:pt x="9336405" y="19050"/>
                  </a:lnTo>
                  <a:lnTo>
                    <a:pt x="933640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9907" y="10270350"/>
            <a:ext cx="930326" cy="16650"/>
            <a:chOff x="0" y="0"/>
            <a:chExt cx="930326" cy="1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0275" cy="16637"/>
            </a:xfrm>
            <a:custGeom>
              <a:avLst/>
              <a:gdLst/>
              <a:ahLst/>
              <a:cxnLst/>
              <a:rect r="r" b="b" t="t" l="l"/>
              <a:pathLst>
                <a:path h="16637" w="930275">
                  <a:moveTo>
                    <a:pt x="0" y="0"/>
                  </a:moveTo>
                  <a:lnTo>
                    <a:pt x="0" y="16637"/>
                  </a:lnTo>
                  <a:lnTo>
                    <a:pt x="707517" y="16637"/>
                  </a:lnTo>
                  <a:lnTo>
                    <a:pt x="707517" y="0"/>
                  </a:lnTo>
                  <a:close/>
                  <a:moveTo>
                    <a:pt x="848106" y="0"/>
                  </a:moveTo>
                  <a:lnTo>
                    <a:pt x="848106" y="16637"/>
                  </a:lnTo>
                  <a:lnTo>
                    <a:pt x="930275" y="16637"/>
                  </a:lnTo>
                  <a:lnTo>
                    <a:pt x="93027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831165" y="499472"/>
            <a:ext cx="10088251" cy="91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b="true" sz="5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Rede Neural Siamesa (SNN)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36337" y="8997205"/>
            <a:ext cx="1367819" cy="39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18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Pequena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69346" y="9420706"/>
            <a:ext cx="1211761" cy="39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1899" spc="3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Grande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4156" y="8998587"/>
            <a:ext cx="1676276" cy="40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18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Semelhantes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36444" y="9430231"/>
            <a:ext cx="1382706" cy="40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18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Diferentes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1462" y="8358035"/>
            <a:ext cx="169821" cy="4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29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Σ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858058" y="9057951"/>
            <a:ext cx="246097" cy="42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189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→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35009" y="9416170"/>
            <a:ext cx="246097" cy="46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189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907" y="9765211"/>
            <a:ext cx="9523057" cy="534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5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3" tooltip="https://pyimagesearch.com/2020/11/30/siamese-networks-with-keras-tensorflow-and-deep-learning/"/>
              </a:rPr>
              <a:t>https://pyimagesearch.com/2020/11/30/siamese-networks-with-keras-tensorflow-and-deep- learning/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46944" y="8418824"/>
            <a:ext cx="1273597" cy="39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d(x, y) =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37949" y="8418824"/>
            <a:ext cx="1140123" cy="4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(xᵢ - yᵢ)²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95567" y="8294284"/>
            <a:ext cx="383419" cy="46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√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0298" y="4576403"/>
            <a:ext cx="12627403" cy="101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0"/>
              </a:lnSpc>
            </a:pPr>
            <a:r>
              <a:rPr lang="en-US" sz="5971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  <a:r>
              <a:rPr lang="en-US" b="true" sz="597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Introdução à Relation Network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512895" cy="5061019"/>
          </a:xfrm>
          <a:custGeom>
            <a:avLst/>
            <a:gdLst/>
            <a:ahLst/>
            <a:cxnLst/>
            <a:rect r="r" b="b" t="t" l="l"/>
            <a:pathLst>
              <a:path h="5061019" w="4512895">
                <a:moveTo>
                  <a:pt x="0" y="0"/>
                </a:moveTo>
                <a:lnTo>
                  <a:pt x="4512895" y="0"/>
                </a:lnTo>
                <a:lnTo>
                  <a:pt x="4512895" y="5061019"/>
                </a:lnTo>
                <a:lnTo>
                  <a:pt x="0" y="5061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5458" y="7714851"/>
            <a:ext cx="2590456" cy="2572149"/>
          </a:xfrm>
          <a:custGeom>
            <a:avLst/>
            <a:gdLst/>
            <a:ahLst/>
            <a:cxnLst/>
            <a:rect r="r" b="b" t="t" l="l"/>
            <a:pathLst>
              <a:path h="2572149" w="2590456">
                <a:moveTo>
                  <a:pt x="0" y="0"/>
                </a:moveTo>
                <a:lnTo>
                  <a:pt x="2590456" y="0"/>
                </a:lnTo>
                <a:lnTo>
                  <a:pt x="2590456" y="2572149"/>
                </a:lnTo>
                <a:lnTo>
                  <a:pt x="0" y="2572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29908" y="9521014"/>
            <a:ext cx="717155" cy="765986"/>
          </a:xfrm>
          <a:custGeom>
            <a:avLst/>
            <a:gdLst/>
            <a:ahLst/>
            <a:cxnLst/>
            <a:rect r="r" b="b" t="t" l="l"/>
            <a:pathLst>
              <a:path h="765986" w="717155">
                <a:moveTo>
                  <a:pt x="0" y="0"/>
                </a:moveTo>
                <a:lnTo>
                  <a:pt x="717154" y="0"/>
                </a:lnTo>
                <a:lnTo>
                  <a:pt x="717154" y="765986"/>
                </a:lnTo>
                <a:lnTo>
                  <a:pt x="0" y="765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22072" y="962025"/>
            <a:ext cx="8737228" cy="512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085" indent="-350543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 2018, Sung e colaboradores propuseram a </a:t>
            </a:r>
            <a:r>
              <a:rPr lang="en-US" b="true" sz="3247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Relation Network</a:t>
            </a:r>
            <a:r>
              <a:rPr lang="en-US" sz="324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Essa abordagem leva a ideia das siamesas um passo além, permitindo que a própria rede aprenda a função de comparação de forma end-to-end, resultando em maior flexibilidade e desempenho em cenários de few-shot learning.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914" y="8964085"/>
            <a:ext cx="1605143" cy="55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7"/>
              </a:lnSpc>
            </a:pPr>
            <a:r>
              <a:rPr lang="en-US" sz="321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GitHub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72361" y="4509449"/>
            <a:ext cx="11143277" cy="114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b="true" sz="6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Fundamentação Teórica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09428">
            <a:off x="6561616" y="560827"/>
            <a:ext cx="4104378" cy="672092"/>
          </a:xfrm>
          <a:custGeom>
            <a:avLst/>
            <a:gdLst/>
            <a:ahLst/>
            <a:cxnLst/>
            <a:rect r="r" b="b" t="t" l="l"/>
            <a:pathLst>
              <a:path h="672092" w="4104378">
                <a:moveTo>
                  <a:pt x="0" y="0"/>
                </a:moveTo>
                <a:lnTo>
                  <a:pt x="4104377" y="0"/>
                </a:lnTo>
                <a:lnTo>
                  <a:pt x="4104377" y="672092"/>
                </a:lnTo>
                <a:lnTo>
                  <a:pt x="0" y="672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63609" y="1242938"/>
            <a:ext cx="6160782" cy="101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8"/>
              </a:lnSpc>
            </a:pPr>
            <a:r>
              <a:rPr lang="en-US" b="true" sz="58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End-to-End?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19884" y="3254831"/>
            <a:ext cx="12248231" cy="275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9497" indent="-424749" lvl="1">
              <a:lnSpc>
                <a:spcPts val="5508"/>
              </a:lnSpc>
              <a:buFont typeface="Arial"/>
              <a:buChar char="•"/>
            </a:pPr>
            <a:r>
              <a:rPr lang="en-US" sz="393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Significa que todo o processo, desde extrair as características até aprender a função de comparação, é treinado junto em um único modelo, de ponta a ponta.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1157" y="1835211"/>
            <a:ext cx="12249150" cy="7562850"/>
          </a:xfrm>
          <a:custGeom>
            <a:avLst/>
            <a:gdLst/>
            <a:ahLst/>
            <a:cxnLst/>
            <a:rect r="r" b="b" t="t" l="l"/>
            <a:pathLst>
              <a:path h="7562850" w="12249150">
                <a:moveTo>
                  <a:pt x="0" y="0"/>
                </a:moveTo>
                <a:lnTo>
                  <a:pt x="12249150" y="0"/>
                </a:lnTo>
                <a:lnTo>
                  <a:pt x="12249150" y="7562850"/>
                </a:lnTo>
                <a:lnTo>
                  <a:pt x="0" y="7562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53177" y="3066574"/>
            <a:ext cx="2160220" cy="6192279"/>
            <a:chOff x="0" y="0"/>
            <a:chExt cx="568947" cy="16308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947" cy="1630888"/>
            </a:xfrm>
            <a:custGeom>
              <a:avLst/>
              <a:gdLst/>
              <a:ahLst/>
              <a:cxnLst/>
              <a:rect r="r" b="b" t="t" l="l"/>
              <a:pathLst>
                <a:path h="1630888" w="568947">
                  <a:moveTo>
                    <a:pt x="182777" y="0"/>
                  </a:moveTo>
                  <a:lnTo>
                    <a:pt x="386170" y="0"/>
                  </a:lnTo>
                  <a:cubicBezTo>
                    <a:pt x="487115" y="0"/>
                    <a:pt x="568947" y="81832"/>
                    <a:pt x="568947" y="182777"/>
                  </a:cubicBezTo>
                  <a:lnTo>
                    <a:pt x="568947" y="1448112"/>
                  </a:lnTo>
                  <a:cubicBezTo>
                    <a:pt x="568947" y="1496587"/>
                    <a:pt x="549690" y="1543077"/>
                    <a:pt x="515413" y="1577354"/>
                  </a:cubicBezTo>
                  <a:cubicBezTo>
                    <a:pt x="481135" y="1611631"/>
                    <a:pt x="434645" y="1630888"/>
                    <a:pt x="386170" y="1630888"/>
                  </a:cubicBezTo>
                  <a:lnTo>
                    <a:pt x="182777" y="1630888"/>
                  </a:lnTo>
                  <a:cubicBezTo>
                    <a:pt x="134301" y="1630888"/>
                    <a:pt x="87811" y="1611631"/>
                    <a:pt x="53534" y="1577354"/>
                  </a:cubicBezTo>
                  <a:cubicBezTo>
                    <a:pt x="19257" y="1543077"/>
                    <a:pt x="0" y="1496587"/>
                    <a:pt x="0" y="1448112"/>
                  </a:cubicBezTo>
                  <a:lnTo>
                    <a:pt x="0" y="182777"/>
                  </a:lnTo>
                  <a:cubicBezTo>
                    <a:pt x="0" y="134301"/>
                    <a:pt x="19257" y="87811"/>
                    <a:pt x="53534" y="53534"/>
                  </a:cubicBezTo>
                  <a:cubicBezTo>
                    <a:pt x="87811" y="19257"/>
                    <a:pt x="134301" y="0"/>
                    <a:pt x="1827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D4F5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568947" cy="1745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75243" y="5865700"/>
            <a:ext cx="2727695" cy="857513"/>
            <a:chOff x="0" y="0"/>
            <a:chExt cx="718405" cy="2258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8405" cy="225847"/>
            </a:xfrm>
            <a:custGeom>
              <a:avLst/>
              <a:gdLst/>
              <a:ahLst/>
              <a:cxnLst/>
              <a:rect r="r" b="b" t="t" l="l"/>
              <a:pathLst>
                <a:path h="225847" w="718405">
                  <a:moveTo>
                    <a:pt x="112924" y="0"/>
                  </a:moveTo>
                  <a:lnTo>
                    <a:pt x="605482" y="0"/>
                  </a:lnTo>
                  <a:cubicBezTo>
                    <a:pt x="667848" y="0"/>
                    <a:pt x="718405" y="50558"/>
                    <a:pt x="718405" y="112924"/>
                  </a:cubicBezTo>
                  <a:lnTo>
                    <a:pt x="718405" y="112924"/>
                  </a:lnTo>
                  <a:cubicBezTo>
                    <a:pt x="718405" y="175290"/>
                    <a:pt x="667848" y="225847"/>
                    <a:pt x="605482" y="225847"/>
                  </a:cubicBezTo>
                  <a:lnTo>
                    <a:pt x="112924" y="225847"/>
                  </a:lnTo>
                  <a:cubicBezTo>
                    <a:pt x="50558" y="225847"/>
                    <a:pt x="0" y="175290"/>
                    <a:pt x="0" y="112924"/>
                  </a:cubicBezTo>
                  <a:lnTo>
                    <a:pt x="0" y="112924"/>
                  </a:lnTo>
                  <a:cubicBezTo>
                    <a:pt x="0" y="50558"/>
                    <a:pt x="50558" y="0"/>
                    <a:pt x="1129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D4F5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718405" cy="34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3637485" y="8390268"/>
            <a:ext cx="1215691" cy="70188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844391" y="9154856"/>
            <a:ext cx="407931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D4F5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Extrator de embeddings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341326" y="6722802"/>
            <a:ext cx="1195528" cy="7356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10939091" y="7410875"/>
            <a:ext cx="411432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D4F5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Métrica de distância fixa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098" y="1614190"/>
            <a:ext cx="17123609" cy="7063489"/>
          </a:xfrm>
          <a:custGeom>
            <a:avLst/>
            <a:gdLst/>
            <a:ahLst/>
            <a:cxnLst/>
            <a:rect r="r" b="b" t="t" l="l"/>
            <a:pathLst>
              <a:path h="7063489" w="17123609">
                <a:moveTo>
                  <a:pt x="0" y="0"/>
                </a:moveTo>
                <a:lnTo>
                  <a:pt x="17123609" y="0"/>
                </a:lnTo>
                <a:lnTo>
                  <a:pt x="17123609" y="7063489"/>
                </a:lnTo>
                <a:lnTo>
                  <a:pt x="0" y="7063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045610" y="2649895"/>
            <a:ext cx="1061133" cy="2843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" id="4"/>
          <p:cNvSpPr/>
          <p:nvPr/>
        </p:nvSpPr>
        <p:spPr>
          <a:xfrm>
            <a:off x="2050540" y="7120260"/>
            <a:ext cx="1061133" cy="2843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11974430" y="2431452"/>
            <a:ext cx="2618785" cy="4973138"/>
            <a:chOff x="0" y="0"/>
            <a:chExt cx="689721" cy="13097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9721" cy="1309798"/>
            </a:xfrm>
            <a:custGeom>
              <a:avLst/>
              <a:gdLst/>
              <a:ahLst/>
              <a:cxnLst/>
              <a:rect r="r" b="b" t="t" l="l"/>
              <a:pathLst>
                <a:path h="1309798" w="689721">
                  <a:moveTo>
                    <a:pt x="150771" y="0"/>
                  </a:moveTo>
                  <a:lnTo>
                    <a:pt x="538950" y="0"/>
                  </a:lnTo>
                  <a:cubicBezTo>
                    <a:pt x="622219" y="0"/>
                    <a:pt x="689721" y="67503"/>
                    <a:pt x="689721" y="150771"/>
                  </a:cubicBezTo>
                  <a:lnTo>
                    <a:pt x="689721" y="1159026"/>
                  </a:lnTo>
                  <a:cubicBezTo>
                    <a:pt x="689721" y="1242295"/>
                    <a:pt x="622219" y="1309798"/>
                    <a:pt x="538950" y="1309798"/>
                  </a:cubicBezTo>
                  <a:lnTo>
                    <a:pt x="150771" y="1309798"/>
                  </a:lnTo>
                  <a:cubicBezTo>
                    <a:pt x="67503" y="1309798"/>
                    <a:pt x="0" y="1242295"/>
                    <a:pt x="0" y="1159026"/>
                  </a:cubicBezTo>
                  <a:lnTo>
                    <a:pt x="0" y="150771"/>
                  </a:lnTo>
                  <a:cubicBezTo>
                    <a:pt x="0" y="67503"/>
                    <a:pt x="67503" y="0"/>
                    <a:pt x="1507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D4F57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689721" cy="1424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01570" y="1614190"/>
            <a:ext cx="3270342" cy="7063489"/>
            <a:chOff x="0" y="0"/>
            <a:chExt cx="861325" cy="18603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1325" cy="1860343"/>
            </a:xfrm>
            <a:custGeom>
              <a:avLst/>
              <a:gdLst/>
              <a:ahLst/>
              <a:cxnLst/>
              <a:rect r="r" b="b" t="t" l="l"/>
              <a:pathLst>
                <a:path h="1860343" w="861325">
                  <a:moveTo>
                    <a:pt x="120733" y="0"/>
                  </a:moveTo>
                  <a:lnTo>
                    <a:pt x="740592" y="0"/>
                  </a:lnTo>
                  <a:cubicBezTo>
                    <a:pt x="772612" y="0"/>
                    <a:pt x="803321" y="12720"/>
                    <a:pt x="825963" y="35362"/>
                  </a:cubicBezTo>
                  <a:cubicBezTo>
                    <a:pt x="848605" y="58004"/>
                    <a:pt x="861325" y="88713"/>
                    <a:pt x="861325" y="120733"/>
                  </a:cubicBezTo>
                  <a:lnTo>
                    <a:pt x="861325" y="1739610"/>
                  </a:lnTo>
                  <a:cubicBezTo>
                    <a:pt x="861325" y="1771630"/>
                    <a:pt x="848605" y="1802339"/>
                    <a:pt x="825963" y="1824981"/>
                  </a:cubicBezTo>
                  <a:cubicBezTo>
                    <a:pt x="803321" y="1847623"/>
                    <a:pt x="772612" y="1860343"/>
                    <a:pt x="740592" y="1860343"/>
                  </a:cubicBezTo>
                  <a:lnTo>
                    <a:pt x="120733" y="1860343"/>
                  </a:lnTo>
                  <a:cubicBezTo>
                    <a:pt x="88713" y="1860343"/>
                    <a:pt x="58004" y="1847623"/>
                    <a:pt x="35362" y="1824981"/>
                  </a:cubicBezTo>
                  <a:cubicBezTo>
                    <a:pt x="12720" y="1802339"/>
                    <a:pt x="0" y="1771630"/>
                    <a:pt x="0" y="1739610"/>
                  </a:cubicBezTo>
                  <a:lnTo>
                    <a:pt x="0" y="120733"/>
                  </a:lnTo>
                  <a:cubicBezTo>
                    <a:pt x="0" y="88713"/>
                    <a:pt x="12720" y="58004"/>
                    <a:pt x="35362" y="35362"/>
                  </a:cubicBezTo>
                  <a:cubicBezTo>
                    <a:pt x="58004" y="12720"/>
                    <a:pt x="88713" y="0"/>
                    <a:pt x="1207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D4F57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861325" cy="1974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44391" y="9154856"/>
            <a:ext cx="407931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D4F5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Extrator de embeddings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1752554" y="8426954"/>
            <a:ext cx="1215691" cy="70188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>
            <a:off x="12870827" y="7415799"/>
            <a:ext cx="825992" cy="11350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1426216" y="8630054"/>
            <a:ext cx="566320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D4F5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Aprende a função de comparação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00" y="1367599"/>
            <a:ext cx="10339686" cy="62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b="true" sz="6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Trabalhos Relacionados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25419"/>
            <a:ext cx="16230600" cy="553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665" indent="-337332" lvl="1">
              <a:lnSpc>
                <a:spcPts val="4374"/>
              </a:lnSpc>
              <a:buFont typeface="Arial"/>
              <a:buChar char="•"/>
            </a:pPr>
            <a:r>
              <a:rPr lang="en-US" sz="312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Fine-tu</a:t>
            </a:r>
            <a:r>
              <a:rPr lang="en-US" sz="312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ne: uma rede existente, pré-treinada em um conjunto de dados relacionado, é ajustada (fine-tuned) com o conjunto de dados de treinamento alvo.</a:t>
            </a:r>
          </a:p>
          <a:p>
            <a:pPr algn="l" marL="674665" indent="-337332" lvl="1">
              <a:lnSpc>
                <a:spcPts val="4374"/>
              </a:lnSpc>
              <a:buFont typeface="Arial"/>
              <a:buChar char="•"/>
            </a:pPr>
            <a:r>
              <a:rPr lang="en-US" sz="312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Redes Neurais Recorrentes com Memória: utilizam memória interna para armazenar informações de exemplos anteriores e realizar classificações.</a:t>
            </a:r>
          </a:p>
          <a:p>
            <a:pPr algn="l" marL="674665" indent="-337332" lvl="1">
              <a:lnSpc>
                <a:spcPts val="4374"/>
              </a:lnSpc>
              <a:buFont typeface="Arial"/>
              <a:buChar char="•"/>
            </a:pPr>
            <a:r>
              <a:rPr lang="en-US" sz="312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Aprendizado de Métrica: aprende-se um conjunto de projeções e, em seguida, aplica-se um classificador linear para tomar a decisão final.</a:t>
            </a:r>
          </a:p>
          <a:p>
            <a:pPr algn="l" marL="674665" indent="-337332" lvl="1">
              <a:lnSpc>
                <a:spcPts val="4374"/>
              </a:lnSpc>
              <a:buFont typeface="Arial"/>
              <a:buChar char="•"/>
            </a:pPr>
            <a:r>
              <a:rPr lang="en-US" sz="312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Redes Siamesas: treinam-se redes para produzir embeddings que depois podem ser usados com um classificador linear.</a:t>
            </a:r>
          </a:p>
          <a:p>
            <a:pPr algn="l">
              <a:lnSpc>
                <a:spcPts val="4374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22633" y="2339834"/>
            <a:ext cx="12842734" cy="509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907" indent="-387954" lvl="1">
              <a:lnSpc>
                <a:spcPts val="5031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Relatio</a:t>
            </a:r>
            <a:r>
              <a:rPr lang="en-US" sz="359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 Network (RN) possui vantagens em relação às abordagens citadas anteriormente. Ela realiza </a:t>
            </a:r>
            <a:r>
              <a:rPr lang="en-US" sz="3593">
                <a:solidFill>
                  <a:srgbClr val="C4326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meta-learning</a:t>
            </a:r>
            <a:r>
              <a:rPr lang="en-US" sz="359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em um grande conjunto de dados relacionado, aprendendo simultaneamente tanto o embedding quanto uma métrica não linear. Esse treinamento de ponta a ponta torna o processo mais simples e mais poderoso do que seus predecessores.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20996" y="8201025"/>
            <a:ext cx="583830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C43267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 meta-learning é como dar ao modelo uma caixa de ferramentas para aprender mais rápido em cenários de few-shot ou zero-shot learning, onde os dados disponíveis são muito limitados.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5365"/>
            <a:ext cx="15428635" cy="298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b="true" sz="51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Exemplo de um método simples para classificação usando apenas dados de treinamento limitados: </a:t>
            </a:r>
            <a:r>
              <a:rPr lang="en-US" b="true" sz="5100">
                <a:solidFill>
                  <a:srgbClr val="C43267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Busca do Vizinho Mais Próximo.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68672" y="4105197"/>
            <a:ext cx="12150655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É um método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não-paramétrico e super simples de classificação.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Funciona assim: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Você tem um conjunto de suporte (support set) com alguns exemplos rotulados de cada classe.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Para classificar uma nova imagem (query), você mede a distância dela para cada exemplo do suporte.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Você atribui a classe do exemplo mais próximo (menor distância).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7040" y="1028700"/>
            <a:ext cx="12132133" cy="8508888"/>
          </a:xfrm>
          <a:custGeom>
            <a:avLst/>
            <a:gdLst/>
            <a:ahLst/>
            <a:cxnLst/>
            <a:rect r="r" b="b" t="t" l="l"/>
            <a:pathLst>
              <a:path h="8508888" w="12132133">
                <a:moveTo>
                  <a:pt x="0" y="0"/>
                </a:moveTo>
                <a:lnTo>
                  <a:pt x="12132133" y="0"/>
                </a:lnTo>
                <a:lnTo>
                  <a:pt x="12132133" y="8508888"/>
                </a:lnTo>
                <a:lnTo>
                  <a:pt x="0" y="850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3003138"/>
          <a:ext cx="2514600" cy="2514600"/>
        </p:xfrm>
        <a:graphic>
          <a:graphicData uri="http://schemas.openxmlformats.org/presentationml/2006/ole">
            <p:oleObj imgW="3009900" imgH="3009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761083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Relation Network (RN)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6337" y="3848226"/>
            <a:ext cx="13855326" cy="251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1648" indent="-385824" lvl="1">
              <a:lnSpc>
                <a:spcPts val="5003"/>
              </a:lnSpc>
              <a:buFont typeface="Arial"/>
              <a:buChar char="•"/>
            </a:pPr>
            <a:r>
              <a:rPr lang="en-US" sz="357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Relation N</a:t>
            </a:r>
            <a:r>
              <a:rPr lang="en-US" sz="3574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etwork: aprende um módulo de relação (uma pequena rede neural) que aprende como comparar, capturar relações muito mais complexas do que só distância Euclidiana.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5577" y="4445632"/>
            <a:ext cx="8656846" cy="125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b="true" sz="7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Metodologia RN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1247"/>
            <a:ext cx="15781628" cy="391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1136" indent="-400568" lvl="1">
              <a:lnSpc>
                <a:spcPts val="5194"/>
              </a:lnSpc>
              <a:buFont typeface="Arial"/>
              <a:buChar char="•"/>
            </a:pP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Trei</a:t>
            </a: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namento (training set): usado para aprender.</a:t>
            </a:r>
          </a:p>
          <a:p>
            <a:pPr algn="l" marL="801136" indent="-400568" lvl="1">
              <a:lnSpc>
                <a:spcPts val="5194"/>
              </a:lnSpc>
              <a:buFont typeface="Arial"/>
              <a:buChar char="•"/>
            </a:pP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Suporte (support set): contém poucos exemplos por classe (o “manual” de referência).</a:t>
            </a:r>
          </a:p>
          <a:p>
            <a:pPr algn="l" marL="801136" indent="-400568" lvl="1">
              <a:lnSpc>
                <a:spcPts val="5194"/>
              </a:lnSpc>
              <a:buFont typeface="Arial"/>
              <a:buChar char="•"/>
            </a:pP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Teste (testing set): contém novas imagens a serem classificadas.</a:t>
            </a:r>
          </a:p>
          <a:p>
            <a:pPr algn="l">
              <a:lnSpc>
                <a:spcPts val="519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857808" y="7138358"/>
            <a:ext cx="572384" cy="2119942"/>
          </a:xfrm>
          <a:custGeom>
            <a:avLst/>
            <a:gdLst/>
            <a:ahLst/>
            <a:cxnLst/>
            <a:rect r="r" b="b" t="t" l="l"/>
            <a:pathLst>
              <a:path h="2119942" w="572384">
                <a:moveTo>
                  <a:pt x="0" y="0"/>
                </a:moveTo>
                <a:lnTo>
                  <a:pt x="572384" y="0"/>
                </a:lnTo>
                <a:lnTo>
                  <a:pt x="572384" y="2119942"/>
                </a:lnTo>
                <a:lnTo>
                  <a:pt x="0" y="2119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88028" y="2288038"/>
            <a:ext cx="9866114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Três conju</a:t>
            </a:r>
            <a:r>
              <a:rPr lang="en-US" sz="43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ntos de dados diferentes: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49703" y="7221478"/>
            <a:ext cx="7509597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Difere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nça para aprendizado supervisionado comum: no RN, as classes do treinamento são diferentes das classes de suporte/teste, forçando o modelo a aprender a comparar, e não decorar.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56954"/>
            <a:ext cx="16230600" cy="588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990" indent="-400495" lvl="1">
              <a:lnSpc>
                <a:spcPts val="5194"/>
              </a:lnSpc>
              <a:buFont typeface="Arial"/>
              <a:buChar char="•"/>
            </a:pP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 trei</a:t>
            </a: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namento acontece em episódios, cada episódio simula uma tarefa de few-shot.</a:t>
            </a:r>
          </a:p>
          <a:p>
            <a:pPr algn="l" marL="800990" indent="-400495" lvl="1">
              <a:lnSpc>
                <a:spcPts val="5194"/>
              </a:lnSpc>
              <a:buFont typeface="Arial"/>
              <a:buChar char="•"/>
            </a:pP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 cada episódio, o modelo pega algumas classes (C-way) e alguns exemplos por classe (K-shot) para formar:</a:t>
            </a:r>
          </a:p>
          <a:p>
            <a:pPr algn="l" marL="1601979" indent="-533993" lvl="2">
              <a:lnSpc>
                <a:spcPts val="5194"/>
              </a:lnSpc>
              <a:buFont typeface="Arial"/>
              <a:buChar char="⚬"/>
            </a:pP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Sample set (equivalente ao support set): imagens conhecidas, com rótulo.</a:t>
            </a:r>
          </a:p>
          <a:p>
            <a:pPr algn="l" marL="1601979" indent="-533993" lvl="2">
              <a:lnSpc>
                <a:spcPts val="5194"/>
              </a:lnSpc>
              <a:buFont typeface="Arial"/>
              <a:buChar char="⚬"/>
            </a:pPr>
            <a:r>
              <a:rPr lang="en-US" sz="371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Query set: imagens a serem classificadas comparando com o sample.</a:t>
            </a:r>
          </a:p>
          <a:p>
            <a:pPr algn="l">
              <a:lnSpc>
                <a:spcPts val="5194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97937" y="6961004"/>
            <a:ext cx="4749734" cy="2297296"/>
            <a:chOff x="0" y="0"/>
            <a:chExt cx="981774" cy="474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1774" cy="474853"/>
            </a:xfrm>
            <a:custGeom>
              <a:avLst/>
              <a:gdLst/>
              <a:ahLst/>
              <a:cxnLst/>
              <a:rect r="r" b="b" t="t" l="l"/>
              <a:pathLst>
                <a:path h="474853" w="981774">
                  <a:moveTo>
                    <a:pt x="83128" y="0"/>
                  </a:moveTo>
                  <a:lnTo>
                    <a:pt x="898645" y="0"/>
                  </a:lnTo>
                  <a:cubicBezTo>
                    <a:pt x="944556" y="0"/>
                    <a:pt x="981774" y="37218"/>
                    <a:pt x="981774" y="83128"/>
                  </a:cubicBezTo>
                  <a:lnTo>
                    <a:pt x="981774" y="391724"/>
                  </a:lnTo>
                  <a:cubicBezTo>
                    <a:pt x="981774" y="413771"/>
                    <a:pt x="973015" y="434915"/>
                    <a:pt x="957426" y="450505"/>
                  </a:cubicBezTo>
                  <a:cubicBezTo>
                    <a:pt x="941836" y="466095"/>
                    <a:pt x="920692" y="474853"/>
                    <a:pt x="898645" y="474853"/>
                  </a:cubicBezTo>
                  <a:lnTo>
                    <a:pt x="83128" y="474853"/>
                  </a:lnTo>
                  <a:cubicBezTo>
                    <a:pt x="61081" y="474853"/>
                    <a:pt x="39937" y="466095"/>
                    <a:pt x="24348" y="450505"/>
                  </a:cubicBezTo>
                  <a:cubicBezTo>
                    <a:pt x="8758" y="434915"/>
                    <a:pt x="0" y="413771"/>
                    <a:pt x="0" y="391724"/>
                  </a:cubicBezTo>
                  <a:lnTo>
                    <a:pt x="0" y="83128"/>
                  </a:lnTo>
                  <a:cubicBezTo>
                    <a:pt x="0" y="61081"/>
                    <a:pt x="8758" y="39937"/>
                    <a:pt x="24348" y="24348"/>
                  </a:cubicBezTo>
                  <a:cubicBezTo>
                    <a:pt x="39937" y="8758"/>
                    <a:pt x="61081" y="0"/>
                    <a:pt x="83128" y="0"/>
                  </a:cubicBezTo>
                  <a:close/>
                </a:path>
              </a:pathLst>
            </a:custGeom>
            <a:solidFill>
              <a:srgbClr val="E7B5D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1774" cy="51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14400"/>
            <a:ext cx="1085671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Estrutura de um episódio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366409" y="4663708"/>
            <a:ext cx="4749734" cy="2297296"/>
            <a:chOff x="0" y="0"/>
            <a:chExt cx="981774" cy="4748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1774" cy="474853"/>
            </a:xfrm>
            <a:custGeom>
              <a:avLst/>
              <a:gdLst/>
              <a:ahLst/>
              <a:cxnLst/>
              <a:rect r="r" b="b" t="t" l="l"/>
              <a:pathLst>
                <a:path h="474853" w="981774">
                  <a:moveTo>
                    <a:pt x="83128" y="0"/>
                  </a:moveTo>
                  <a:lnTo>
                    <a:pt x="898645" y="0"/>
                  </a:lnTo>
                  <a:cubicBezTo>
                    <a:pt x="944556" y="0"/>
                    <a:pt x="981774" y="37218"/>
                    <a:pt x="981774" y="83128"/>
                  </a:cubicBezTo>
                  <a:lnTo>
                    <a:pt x="981774" y="391724"/>
                  </a:lnTo>
                  <a:cubicBezTo>
                    <a:pt x="981774" y="413771"/>
                    <a:pt x="973015" y="434915"/>
                    <a:pt x="957426" y="450505"/>
                  </a:cubicBezTo>
                  <a:cubicBezTo>
                    <a:pt x="941836" y="466095"/>
                    <a:pt x="920692" y="474853"/>
                    <a:pt x="898645" y="474853"/>
                  </a:cubicBezTo>
                  <a:lnTo>
                    <a:pt x="83128" y="474853"/>
                  </a:lnTo>
                  <a:cubicBezTo>
                    <a:pt x="61081" y="474853"/>
                    <a:pt x="39937" y="466095"/>
                    <a:pt x="24348" y="450505"/>
                  </a:cubicBezTo>
                  <a:cubicBezTo>
                    <a:pt x="8758" y="434915"/>
                    <a:pt x="0" y="413771"/>
                    <a:pt x="0" y="391724"/>
                  </a:cubicBezTo>
                  <a:lnTo>
                    <a:pt x="0" y="83128"/>
                  </a:lnTo>
                  <a:cubicBezTo>
                    <a:pt x="0" y="61081"/>
                    <a:pt x="8758" y="39937"/>
                    <a:pt x="24348" y="24348"/>
                  </a:cubicBezTo>
                  <a:cubicBezTo>
                    <a:pt x="39937" y="8758"/>
                    <a:pt x="61081" y="0"/>
                    <a:pt x="83128" y="0"/>
                  </a:cubicBezTo>
                  <a:close/>
                </a:path>
              </a:pathLst>
            </a:custGeom>
            <a:solidFill>
              <a:srgbClr val="E7B5D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81774" cy="51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08562" y="2366412"/>
            <a:ext cx="5381501" cy="2297296"/>
            <a:chOff x="0" y="0"/>
            <a:chExt cx="1112360" cy="474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360" cy="474853"/>
            </a:xfrm>
            <a:custGeom>
              <a:avLst/>
              <a:gdLst/>
              <a:ahLst/>
              <a:cxnLst/>
              <a:rect r="r" b="b" t="t" l="l"/>
              <a:pathLst>
                <a:path h="474853" w="1112360">
                  <a:moveTo>
                    <a:pt x="73369" y="0"/>
                  </a:moveTo>
                  <a:lnTo>
                    <a:pt x="1038991" y="0"/>
                  </a:lnTo>
                  <a:cubicBezTo>
                    <a:pt x="1058450" y="0"/>
                    <a:pt x="1077111" y="7730"/>
                    <a:pt x="1090871" y="21489"/>
                  </a:cubicBezTo>
                  <a:cubicBezTo>
                    <a:pt x="1104630" y="35249"/>
                    <a:pt x="1112360" y="53911"/>
                    <a:pt x="1112360" y="73369"/>
                  </a:cubicBezTo>
                  <a:lnTo>
                    <a:pt x="1112360" y="401483"/>
                  </a:lnTo>
                  <a:cubicBezTo>
                    <a:pt x="1112360" y="420942"/>
                    <a:pt x="1104630" y="439604"/>
                    <a:pt x="1090871" y="453363"/>
                  </a:cubicBezTo>
                  <a:cubicBezTo>
                    <a:pt x="1077111" y="467123"/>
                    <a:pt x="1058450" y="474853"/>
                    <a:pt x="1038991" y="474853"/>
                  </a:cubicBezTo>
                  <a:lnTo>
                    <a:pt x="73369" y="474853"/>
                  </a:lnTo>
                  <a:cubicBezTo>
                    <a:pt x="53911" y="474853"/>
                    <a:pt x="35249" y="467123"/>
                    <a:pt x="21489" y="453363"/>
                  </a:cubicBezTo>
                  <a:cubicBezTo>
                    <a:pt x="7730" y="439604"/>
                    <a:pt x="0" y="420942"/>
                    <a:pt x="0" y="401483"/>
                  </a:cubicBezTo>
                  <a:lnTo>
                    <a:pt x="0" y="73369"/>
                  </a:lnTo>
                  <a:cubicBezTo>
                    <a:pt x="0" y="53911"/>
                    <a:pt x="7730" y="35249"/>
                    <a:pt x="21489" y="21489"/>
                  </a:cubicBezTo>
                  <a:cubicBezTo>
                    <a:pt x="35249" y="7730"/>
                    <a:pt x="53911" y="0"/>
                    <a:pt x="73369" y="0"/>
                  </a:cubicBezTo>
                  <a:close/>
                </a:path>
              </a:pathLst>
            </a:custGeom>
            <a:solidFill>
              <a:srgbClr val="E7B5D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12360" cy="51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42775" y="7457714"/>
            <a:ext cx="4460058" cy="123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60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1º Passo: Escolher C classes (C-way)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11247" y="4844867"/>
            <a:ext cx="4460058" cy="18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60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2º Passo: Escolher K exemplos por classe (K-shot)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53400" y="2547571"/>
            <a:ext cx="5236663" cy="18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60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3º Passo: Selecionar imagens adicionais da mesma classe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6763" y="3791829"/>
            <a:ext cx="3004386" cy="4114800"/>
          </a:xfrm>
          <a:custGeom>
            <a:avLst/>
            <a:gdLst/>
            <a:ahLst/>
            <a:cxnLst/>
            <a:rect r="r" b="b" t="t" l="l"/>
            <a:pathLst>
              <a:path h="4114800" w="3004386">
                <a:moveTo>
                  <a:pt x="0" y="0"/>
                </a:moveTo>
                <a:lnTo>
                  <a:pt x="3004386" y="0"/>
                </a:lnTo>
                <a:lnTo>
                  <a:pt x="30043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24265" y="3791829"/>
            <a:ext cx="3239470" cy="4114800"/>
          </a:xfrm>
          <a:custGeom>
            <a:avLst/>
            <a:gdLst/>
            <a:ahLst/>
            <a:cxnLst/>
            <a:rect r="r" b="b" t="t" l="l"/>
            <a:pathLst>
              <a:path h="4114800" w="3239470">
                <a:moveTo>
                  <a:pt x="0" y="0"/>
                </a:moveTo>
                <a:lnTo>
                  <a:pt x="3239470" y="0"/>
                </a:lnTo>
                <a:lnTo>
                  <a:pt x="3239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81593" y="3791829"/>
            <a:ext cx="4777707" cy="4114800"/>
          </a:xfrm>
          <a:custGeom>
            <a:avLst/>
            <a:gdLst/>
            <a:ahLst/>
            <a:cxnLst/>
            <a:rect r="r" b="b" t="t" l="l"/>
            <a:pathLst>
              <a:path h="4114800" w="4777707">
                <a:moveTo>
                  <a:pt x="0" y="0"/>
                </a:moveTo>
                <a:lnTo>
                  <a:pt x="4777707" y="0"/>
                </a:lnTo>
                <a:lnTo>
                  <a:pt x="47777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52500"/>
            <a:ext cx="6787881" cy="14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7"/>
              </a:lnSpc>
            </a:pPr>
            <a:r>
              <a:rPr lang="en-US" sz="4105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1º Passo: Escolher C classes (C-way)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552" y="3812818"/>
            <a:ext cx="1819426" cy="2491881"/>
          </a:xfrm>
          <a:custGeom>
            <a:avLst/>
            <a:gdLst/>
            <a:ahLst/>
            <a:cxnLst/>
            <a:rect r="r" b="b" t="t" l="l"/>
            <a:pathLst>
              <a:path h="2491881" w="1819426">
                <a:moveTo>
                  <a:pt x="0" y="0"/>
                </a:moveTo>
                <a:lnTo>
                  <a:pt x="1819426" y="0"/>
                </a:lnTo>
                <a:lnTo>
                  <a:pt x="1819426" y="2491881"/>
                </a:lnTo>
                <a:lnTo>
                  <a:pt x="0" y="2491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09480" y="3812818"/>
            <a:ext cx="1819426" cy="2491881"/>
          </a:xfrm>
          <a:custGeom>
            <a:avLst/>
            <a:gdLst/>
            <a:ahLst/>
            <a:cxnLst/>
            <a:rect r="r" b="b" t="t" l="l"/>
            <a:pathLst>
              <a:path h="2491881" w="1819426">
                <a:moveTo>
                  <a:pt x="0" y="0"/>
                </a:moveTo>
                <a:lnTo>
                  <a:pt x="1819426" y="0"/>
                </a:lnTo>
                <a:lnTo>
                  <a:pt x="1819426" y="2491881"/>
                </a:lnTo>
                <a:lnTo>
                  <a:pt x="0" y="2491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03610" y="3812818"/>
            <a:ext cx="2007918" cy="2550474"/>
          </a:xfrm>
          <a:custGeom>
            <a:avLst/>
            <a:gdLst/>
            <a:ahLst/>
            <a:cxnLst/>
            <a:rect r="r" b="b" t="t" l="l"/>
            <a:pathLst>
              <a:path h="2550474" w="2007918">
                <a:moveTo>
                  <a:pt x="0" y="0"/>
                </a:moveTo>
                <a:lnTo>
                  <a:pt x="2007919" y="0"/>
                </a:lnTo>
                <a:lnTo>
                  <a:pt x="2007919" y="2550474"/>
                </a:lnTo>
                <a:lnTo>
                  <a:pt x="0" y="2550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76471" y="3812818"/>
            <a:ext cx="2007918" cy="2550474"/>
          </a:xfrm>
          <a:custGeom>
            <a:avLst/>
            <a:gdLst/>
            <a:ahLst/>
            <a:cxnLst/>
            <a:rect r="r" b="b" t="t" l="l"/>
            <a:pathLst>
              <a:path h="2550474" w="2007918">
                <a:moveTo>
                  <a:pt x="0" y="0"/>
                </a:moveTo>
                <a:lnTo>
                  <a:pt x="2007919" y="0"/>
                </a:lnTo>
                <a:lnTo>
                  <a:pt x="2007919" y="2550474"/>
                </a:lnTo>
                <a:lnTo>
                  <a:pt x="0" y="2550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88205" y="4017091"/>
            <a:ext cx="2971095" cy="2558856"/>
          </a:xfrm>
          <a:custGeom>
            <a:avLst/>
            <a:gdLst/>
            <a:ahLst/>
            <a:cxnLst/>
            <a:rect r="r" b="b" t="t" l="l"/>
            <a:pathLst>
              <a:path h="2558856" w="2971095">
                <a:moveTo>
                  <a:pt x="0" y="0"/>
                </a:moveTo>
                <a:lnTo>
                  <a:pt x="2971095" y="0"/>
                </a:lnTo>
                <a:lnTo>
                  <a:pt x="2971095" y="2558856"/>
                </a:lnTo>
                <a:lnTo>
                  <a:pt x="0" y="25588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81593" y="4068408"/>
            <a:ext cx="2911511" cy="2507539"/>
          </a:xfrm>
          <a:custGeom>
            <a:avLst/>
            <a:gdLst/>
            <a:ahLst/>
            <a:cxnLst/>
            <a:rect r="r" b="b" t="t" l="l"/>
            <a:pathLst>
              <a:path h="2507539" w="2911511">
                <a:moveTo>
                  <a:pt x="0" y="0"/>
                </a:moveTo>
                <a:lnTo>
                  <a:pt x="2911511" y="0"/>
                </a:lnTo>
                <a:lnTo>
                  <a:pt x="2911511" y="2507539"/>
                </a:lnTo>
                <a:lnTo>
                  <a:pt x="0" y="2507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7874892" y="2109972"/>
            <a:ext cx="2159993" cy="10666633"/>
          </a:xfrm>
          <a:custGeom>
            <a:avLst/>
            <a:gdLst/>
            <a:ahLst/>
            <a:cxnLst/>
            <a:rect r="r" b="b" t="t" l="l"/>
            <a:pathLst>
              <a:path h="10666633" w="2159993">
                <a:moveTo>
                  <a:pt x="0" y="0"/>
                </a:moveTo>
                <a:lnTo>
                  <a:pt x="2159993" y="0"/>
                </a:lnTo>
                <a:lnTo>
                  <a:pt x="2159993" y="10666633"/>
                </a:lnTo>
                <a:lnTo>
                  <a:pt x="0" y="106666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62025"/>
            <a:ext cx="4460058" cy="18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60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2º Passo: Escolher K exemplos por classe (K-shot):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62471" y="8842671"/>
            <a:ext cx="3384835" cy="75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7"/>
              </a:lnSpc>
              <a:spcBef>
                <a:spcPct val="0"/>
              </a:spcBef>
            </a:pPr>
            <a:r>
              <a:rPr lang="en-US" b="true" sz="448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Sample set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9266" y="3135993"/>
            <a:ext cx="2855217" cy="3619927"/>
          </a:xfrm>
          <a:custGeom>
            <a:avLst/>
            <a:gdLst/>
            <a:ahLst/>
            <a:cxnLst/>
            <a:rect r="r" b="b" t="t" l="l"/>
            <a:pathLst>
              <a:path h="3619927" w="2855217">
                <a:moveTo>
                  <a:pt x="0" y="0"/>
                </a:moveTo>
                <a:lnTo>
                  <a:pt x="2855217" y="0"/>
                </a:lnTo>
                <a:lnTo>
                  <a:pt x="2855217" y="3619926"/>
                </a:lnTo>
                <a:lnTo>
                  <a:pt x="0" y="3619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33372" y="3135993"/>
            <a:ext cx="2992473" cy="3619927"/>
          </a:xfrm>
          <a:custGeom>
            <a:avLst/>
            <a:gdLst/>
            <a:ahLst/>
            <a:cxnLst/>
            <a:rect r="r" b="b" t="t" l="l"/>
            <a:pathLst>
              <a:path h="3619927" w="2992473">
                <a:moveTo>
                  <a:pt x="0" y="0"/>
                </a:moveTo>
                <a:lnTo>
                  <a:pt x="2992473" y="0"/>
                </a:lnTo>
                <a:lnTo>
                  <a:pt x="2992473" y="3619926"/>
                </a:lnTo>
                <a:lnTo>
                  <a:pt x="0" y="3619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62792" y="3135993"/>
            <a:ext cx="2925942" cy="4015015"/>
          </a:xfrm>
          <a:custGeom>
            <a:avLst/>
            <a:gdLst/>
            <a:ahLst/>
            <a:cxnLst/>
            <a:rect r="r" b="b" t="t" l="l"/>
            <a:pathLst>
              <a:path h="4015015" w="2925942">
                <a:moveTo>
                  <a:pt x="0" y="0"/>
                </a:moveTo>
                <a:lnTo>
                  <a:pt x="2925942" y="0"/>
                </a:lnTo>
                <a:lnTo>
                  <a:pt x="2925942" y="4015014"/>
                </a:lnTo>
                <a:lnTo>
                  <a:pt x="0" y="4015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62025"/>
            <a:ext cx="5236663" cy="18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60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3º Passo: Selecionar imagens adicionais da mesma classe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8064003" y="2799243"/>
            <a:ext cx="2159993" cy="10666633"/>
          </a:xfrm>
          <a:custGeom>
            <a:avLst/>
            <a:gdLst/>
            <a:ahLst/>
            <a:cxnLst/>
            <a:rect r="r" b="b" t="t" l="l"/>
            <a:pathLst>
              <a:path h="10666633" w="2159993">
                <a:moveTo>
                  <a:pt x="0" y="0"/>
                </a:moveTo>
                <a:lnTo>
                  <a:pt x="2159994" y="0"/>
                </a:lnTo>
                <a:lnTo>
                  <a:pt x="2159994" y="10666633"/>
                </a:lnTo>
                <a:lnTo>
                  <a:pt x="0" y="10666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28914" y="9431632"/>
            <a:ext cx="3030172" cy="75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7"/>
              </a:lnSpc>
              <a:spcBef>
                <a:spcPct val="0"/>
              </a:spcBef>
            </a:pPr>
            <a:r>
              <a:rPr lang="en-US" b="true" sz="448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Query</a:t>
            </a:r>
            <a:r>
              <a:rPr lang="en-US" b="true" sz="448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set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1038" y="4350120"/>
            <a:ext cx="7545923" cy="1586760"/>
          </a:xfrm>
          <a:custGeom>
            <a:avLst/>
            <a:gdLst/>
            <a:ahLst/>
            <a:cxnLst/>
            <a:rect r="r" b="b" t="t" l="l"/>
            <a:pathLst>
              <a:path h="1586760" w="7545923">
                <a:moveTo>
                  <a:pt x="0" y="0"/>
                </a:moveTo>
                <a:lnTo>
                  <a:pt x="7545924" y="0"/>
                </a:lnTo>
                <a:lnTo>
                  <a:pt x="7545924" y="1586760"/>
                </a:lnTo>
                <a:lnTo>
                  <a:pt x="0" y="158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23459" y="4513589"/>
            <a:ext cx="9041081" cy="1259823"/>
          </a:xfrm>
          <a:custGeom>
            <a:avLst/>
            <a:gdLst/>
            <a:ahLst/>
            <a:cxnLst/>
            <a:rect r="r" b="b" t="t" l="l"/>
            <a:pathLst>
              <a:path h="1259823" w="9041081">
                <a:moveTo>
                  <a:pt x="0" y="0"/>
                </a:moveTo>
                <a:lnTo>
                  <a:pt x="9041082" y="0"/>
                </a:lnTo>
                <a:lnTo>
                  <a:pt x="9041082" y="1259822"/>
                </a:lnTo>
                <a:lnTo>
                  <a:pt x="0" y="125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0796" y="914400"/>
            <a:ext cx="8278654" cy="108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Difere</a:t>
            </a:r>
            <a:r>
              <a:rPr lang="en-US" b="true" sz="64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nça essencial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73288"/>
            <a:ext cx="15885403" cy="340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Sample </a:t>
            </a:r>
            <a:r>
              <a:rPr lang="en-US" sz="39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set (suporte): fornece exemplos rotulados (a “base” para comparar).</a:t>
            </a:r>
          </a:p>
          <a:p>
            <a:pPr algn="l" marL="842016" indent="-42100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Query set: fornece exemplos novos da mesma classe, que a rede precisa classificar comparando com o suporte.</a:t>
            </a:r>
          </a:p>
          <a:p>
            <a:pPr algn="l">
              <a:lnSpc>
                <a:spcPts val="5460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9529" y="3365681"/>
            <a:ext cx="14968942" cy="424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673" indent="-370336" lvl="1">
              <a:lnSpc>
                <a:spcPts val="4802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</a:t>
            </a:r>
            <a:r>
              <a:rPr lang="en-US" sz="343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nto os vetores do sample quanto do query são embutidos (embedded) usando o módulo de embedding fϕ.</a:t>
            </a:r>
          </a:p>
          <a:p>
            <a:pPr algn="l" marL="740673" indent="-370336" lvl="1">
              <a:lnSpc>
                <a:spcPts val="4802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Depois do embedding, os dois vetores são concatenados.</a:t>
            </a:r>
          </a:p>
          <a:p>
            <a:pPr algn="l" marL="740673" indent="-370336" lvl="1">
              <a:lnSpc>
                <a:spcPts val="4802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 módulo de relação gϕ​ então mapeia o vetor concatenado para um número entre 0 e 1, onde 1 indica que são muito similares e 0 indica nenhuma similaridade.</a:t>
            </a:r>
          </a:p>
          <a:p>
            <a:pPr algn="l">
              <a:lnSpc>
                <a:spcPts val="480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36754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Processo de Comparação no RN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9079" y="3600578"/>
            <a:ext cx="4201852" cy="1899936"/>
            <a:chOff x="0" y="0"/>
            <a:chExt cx="1197742" cy="5415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7742" cy="541579"/>
            </a:xfrm>
            <a:custGeom>
              <a:avLst/>
              <a:gdLst/>
              <a:ahLst/>
              <a:cxnLst/>
              <a:rect r="r" b="b" t="t" l="l"/>
              <a:pathLst>
                <a:path h="541579" w="1197742">
                  <a:moveTo>
                    <a:pt x="0" y="0"/>
                  </a:moveTo>
                  <a:lnTo>
                    <a:pt x="1197742" y="0"/>
                  </a:lnTo>
                  <a:lnTo>
                    <a:pt x="1197742" y="541579"/>
                  </a:lnTo>
                  <a:lnTo>
                    <a:pt x="0" y="541579"/>
                  </a:lnTo>
                  <a:close/>
                </a:path>
              </a:pathLst>
            </a:custGeom>
            <a:solidFill>
              <a:srgbClr val="FEBB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97742" cy="579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14400"/>
            <a:ext cx="136754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Processo de Comparação no RN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9079" y="5500514"/>
            <a:ext cx="4201852" cy="1899936"/>
            <a:chOff x="0" y="0"/>
            <a:chExt cx="1197742" cy="541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7742" cy="541579"/>
            </a:xfrm>
            <a:custGeom>
              <a:avLst/>
              <a:gdLst/>
              <a:ahLst/>
              <a:cxnLst/>
              <a:rect r="r" b="b" t="t" l="l"/>
              <a:pathLst>
                <a:path h="541579" w="1197742">
                  <a:moveTo>
                    <a:pt x="0" y="0"/>
                  </a:moveTo>
                  <a:lnTo>
                    <a:pt x="1197742" y="0"/>
                  </a:lnTo>
                  <a:lnTo>
                    <a:pt x="1197742" y="541579"/>
                  </a:lnTo>
                  <a:lnTo>
                    <a:pt x="0" y="541579"/>
                  </a:lnTo>
                  <a:close/>
                </a:path>
              </a:pathLst>
            </a:custGeom>
            <a:solidFill>
              <a:srgbClr val="FEBB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97742" cy="579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719079" y="5518115"/>
            <a:ext cx="42018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161352" y="4089481"/>
            <a:ext cx="3317305" cy="82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6"/>
              </a:lnSpc>
            </a:pPr>
            <a:r>
              <a:rPr lang="en-US" sz="4804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Sample Xi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0522" y="5989418"/>
            <a:ext cx="2918964" cy="82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6"/>
              </a:lnSpc>
            </a:pPr>
            <a:r>
              <a:rPr lang="en-US" sz="4804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Query Xj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920930" y="4585748"/>
            <a:ext cx="3077080" cy="176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920825" y="6432881"/>
            <a:ext cx="2971339" cy="176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109572" y="3816548"/>
            <a:ext cx="737497" cy="78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7"/>
              </a:lnSpc>
              <a:spcBef>
                <a:spcPct val="0"/>
              </a:spcBef>
            </a:pPr>
            <a:r>
              <a:rPr lang="en-US" b="true" sz="461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fϕ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06329" y="5628434"/>
            <a:ext cx="737497" cy="78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7"/>
              </a:lnSpc>
              <a:spcBef>
                <a:spcPct val="0"/>
              </a:spcBef>
            </a:pPr>
            <a:r>
              <a:rPr lang="en-US" b="true" sz="461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fϕ</a:t>
            </a:r>
          </a:p>
        </p:txBody>
      </p:sp>
      <p:grpSp>
        <p:nvGrpSpPr>
          <p:cNvPr name="Group 16" id="16"/>
          <p:cNvGrpSpPr/>
          <p:nvPr/>
        </p:nvGrpSpPr>
        <p:grpSpPr>
          <a:xfrm rot="-5400000">
            <a:off x="7907055" y="4568147"/>
            <a:ext cx="3799873" cy="1899936"/>
            <a:chOff x="0" y="0"/>
            <a:chExt cx="1083158" cy="5415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3158" cy="541579"/>
            </a:xfrm>
            <a:custGeom>
              <a:avLst/>
              <a:gdLst/>
              <a:ahLst/>
              <a:cxnLst/>
              <a:rect r="r" b="b" t="t" l="l"/>
              <a:pathLst>
                <a:path h="541579" w="1083158">
                  <a:moveTo>
                    <a:pt x="0" y="0"/>
                  </a:moveTo>
                  <a:lnTo>
                    <a:pt x="1083158" y="0"/>
                  </a:lnTo>
                  <a:lnTo>
                    <a:pt x="1083158" y="541579"/>
                  </a:lnTo>
                  <a:lnTo>
                    <a:pt x="0" y="541579"/>
                  </a:lnTo>
                  <a:close/>
                </a:path>
              </a:pathLst>
            </a:custGeom>
            <a:solidFill>
              <a:srgbClr val="FEBB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83158" cy="579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02763" y="4962901"/>
            <a:ext cx="608457" cy="99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9"/>
              </a:lnSpc>
            </a:pPr>
            <a:r>
              <a:rPr lang="en-US" sz="582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78848" y="2783223"/>
            <a:ext cx="1656287" cy="78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7"/>
              </a:lnSpc>
            </a:pPr>
            <a:r>
              <a:rPr lang="en-US" sz="461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C(.,. )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756827" y="5500514"/>
            <a:ext cx="23331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11492969" y="4640916"/>
            <a:ext cx="835514" cy="78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7"/>
              </a:lnSpc>
              <a:spcBef>
                <a:spcPct val="0"/>
              </a:spcBef>
            </a:pPr>
            <a:r>
              <a:rPr lang="en-US" b="true" sz="461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gϕ​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40930" y="4928737"/>
            <a:ext cx="784517" cy="88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  <a:spcBef>
                <a:spcPct val="0"/>
              </a:spcBef>
            </a:pPr>
            <a:r>
              <a:rPr lang="en-US" b="true" sz="519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rij​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17341" y="5011378"/>
            <a:ext cx="659306" cy="88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  <a:spcBef>
                <a:spcPct val="0"/>
              </a:spcBef>
            </a:pPr>
            <a:r>
              <a:rPr lang="en-US" b="true" sz="519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∈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67147" y="5103075"/>
            <a:ext cx="1237033" cy="75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4464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[0,1]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357772" y="5106868"/>
            <a:ext cx="586740" cy="78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7"/>
              </a:lnSpc>
              <a:spcBef>
                <a:spcPct val="0"/>
              </a:spcBef>
            </a:pPr>
            <a:r>
              <a:rPr lang="en-US" b="true" sz="461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953607" y="5093550"/>
            <a:ext cx="611386" cy="78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7"/>
              </a:lnSpc>
              <a:spcBef>
                <a:spcPct val="0"/>
              </a:spcBef>
            </a:pPr>
            <a:r>
              <a:rPr lang="en-US" b="true" sz="461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4709" y="3578946"/>
            <a:ext cx="11538583" cy="3129107"/>
          </a:xfrm>
          <a:custGeom>
            <a:avLst/>
            <a:gdLst/>
            <a:ahLst/>
            <a:cxnLst/>
            <a:rect r="r" b="b" t="t" l="l"/>
            <a:pathLst>
              <a:path h="3129107" w="11538583">
                <a:moveTo>
                  <a:pt x="0" y="0"/>
                </a:moveTo>
                <a:lnTo>
                  <a:pt x="11538582" y="0"/>
                </a:lnTo>
                <a:lnTo>
                  <a:pt x="11538582" y="3129108"/>
                </a:lnTo>
                <a:lnTo>
                  <a:pt x="0" y="312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4350" y="914400"/>
            <a:ext cx="17259300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Função de perda - Mean Squared Error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1525" y="3707534"/>
            <a:ext cx="16177971" cy="471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958" indent="-415479" lvl="1">
              <a:lnSpc>
                <a:spcPts val="5388"/>
              </a:lnSpc>
              <a:buFont typeface="Arial"/>
              <a:buChar char="•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Bi</a:t>
            </a: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nary Cross-Entropy (BCE)</a:t>
            </a:r>
          </a:p>
          <a:p>
            <a:pPr algn="l" marL="1661916" indent="-553972" lvl="2">
              <a:lnSpc>
                <a:spcPts val="5388"/>
              </a:lnSpc>
              <a:buFont typeface="Arial"/>
              <a:buChar char="⚬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Muito usada em problemas binários (mesma classe vs diferente).</a:t>
            </a:r>
          </a:p>
          <a:p>
            <a:pPr algn="l" marL="1661916" indent="-553972" lvl="2">
              <a:lnSpc>
                <a:spcPts val="5388"/>
              </a:lnSpc>
              <a:buFont typeface="Arial"/>
              <a:buChar char="⚬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Interpreta o relation score como uma probabilidade.</a:t>
            </a:r>
          </a:p>
          <a:p>
            <a:pPr algn="l" marL="1661916" indent="-553972" lvl="2">
              <a:lnSpc>
                <a:spcPts val="5388"/>
              </a:lnSpc>
              <a:buFont typeface="Arial"/>
              <a:buChar char="⚬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Mais comum hoje em tarefas de few-shot porque lida melhor com outputs sigmoides.</a:t>
            </a:r>
          </a:p>
          <a:p>
            <a:pPr algn="ctr">
              <a:lnSpc>
                <a:spcPts val="538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879256" y="2146477"/>
            <a:ext cx="9962509" cy="1341982"/>
          </a:xfrm>
          <a:custGeom>
            <a:avLst/>
            <a:gdLst/>
            <a:ahLst/>
            <a:cxnLst/>
            <a:rect r="r" b="b" t="t" l="l"/>
            <a:pathLst>
              <a:path h="1341982" w="9962509">
                <a:moveTo>
                  <a:pt x="0" y="0"/>
                </a:moveTo>
                <a:lnTo>
                  <a:pt x="9962509" y="0"/>
                </a:lnTo>
                <a:lnTo>
                  <a:pt x="9962509" y="1341982"/>
                </a:lnTo>
                <a:lnTo>
                  <a:pt x="0" y="1341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5663621" cy="94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3"/>
              </a:lnSpc>
            </a:pPr>
            <a:r>
              <a:rPr lang="en-US" sz="548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Outras fu</a:t>
            </a:r>
            <a:r>
              <a:rPr lang="en-US" b="true" sz="548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nções de perda aplicáveis em RN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1525" y="3578328"/>
            <a:ext cx="17516475" cy="539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0958" indent="-415479" lvl="1">
              <a:lnSpc>
                <a:spcPts val="5388"/>
              </a:lnSpc>
              <a:buFont typeface="Arial"/>
              <a:buChar char="•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Co</a:t>
            </a: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ntrastive Loss (inspirada em SNNs)</a:t>
            </a:r>
          </a:p>
          <a:p>
            <a:pPr algn="l" marL="1661916" indent="-553972" lvl="2">
              <a:lnSpc>
                <a:spcPts val="5388"/>
              </a:lnSpc>
              <a:buFont typeface="Arial"/>
              <a:buChar char="⚬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Onde D é a distância entre embeddings, e m é uma margem definida.</a:t>
            </a:r>
          </a:p>
          <a:p>
            <a:pPr algn="l" marL="1661916" indent="-553972" lvl="2">
              <a:lnSpc>
                <a:spcPts val="5388"/>
              </a:lnSpc>
              <a:buFont typeface="Arial"/>
              <a:buChar char="⚬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 são da mesma classe → minimizar a distância.</a:t>
            </a:r>
          </a:p>
          <a:p>
            <a:pPr algn="l" marL="1661916" indent="-553972" lvl="2">
              <a:lnSpc>
                <a:spcPts val="5388"/>
              </a:lnSpc>
              <a:buFont typeface="Arial"/>
              <a:buChar char="⚬"/>
            </a:pPr>
            <a:r>
              <a:rPr lang="en-US" b="true" sz="384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 são diferentes → distância precisa ser maior que a margem m.</a:t>
            </a:r>
          </a:p>
          <a:p>
            <a:pPr algn="l">
              <a:lnSpc>
                <a:spcPts val="5388"/>
              </a:lnSpc>
            </a:pPr>
          </a:p>
          <a:p>
            <a:pPr algn="ctr">
              <a:lnSpc>
                <a:spcPts val="538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82530" y="2074620"/>
            <a:ext cx="9722940" cy="936846"/>
          </a:xfrm>
          <a:custGeom>
            <a:avLst/>
            <a:gdLst/>
            <a:ahLst/>
            <a:cxnLst/>
            <a:rect r="r" b="b" t="t" l="l"/>
            <a:pathLst>
              <a:path h="936846" w="9722940">
                <a:moveTo>
                  <a:pt x="0" y="0"/>
                </a:moveTo>
                <a:lnTo>
                  <a:pt x="9722940" y="0"/>
                </a:lnTo>
                <a:lnTo>
                  <a:pt x="9722940" y="936845"/>
                </a:lnTo>
                <a:lnTo>
                  <a:pt x="0" y="936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5663621" cy="94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3"/>
              </a:lnSpc>
            </a:pPr>
            <a:r>
              <a:rPr lang="en-US" sz="548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Outras fu</a:t>
            </a:r>
            <a:r>
              <a:rPr lang="en-US" b="true" sz="548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nções de perda aplicáveis em RN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91767" y="2230689"/>
            <a:ext cx="9537486" cy="1303087"/>
          </a:xfrm>
          <a:custGeom>
            <a:avLst/>
            <a:gdLst/>
            <a:ahLst/>
            <a:cxnLst/>
            <a:rect r="r" b="b" t="t" l="l"/>
            <a:pathLst>
              <a:path h="1303087" w="9537486">
                <a:moveTo>
                  <a:pt x="0" y="0"/>
                </a:moveTo>
                <a:lnTo>
                  <a:pt x="9537486" y="0"/>
                </a:lnTo>
                <a:lnTo>
                  <a:pt x="9537486" y="1303087"/>
                </a:lnTo>
                <a:lnTo>
                  <a:pt x="0" y="1303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15663621" cy="94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3"/>
              </a:lnSpc>
            </a:pPr>
            <a:r>
              <a:rPr lang="en-US" sz="5488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Outras fu</a:t>
            </a:r>
            <a:r>
              <a:rPr lang="en-US" b="true" sz="5488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nções de perda aplicáveis em 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1073" y="3467101"/>
            <a:ext cx="15361248" cy="605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9"/>
              </a:lnSpc>
            </a:pPr>
            <a:r>
              <a:rPr lang="en-US" sz="384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</a:t>
            </a:r>
            <a:r>
              <a:rPr lang="en-US" sz="384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riplet Loss:</a:t>
            </a:r>
          </a:p>
          <a:p>
            <a:pPr algn="l" marL="831214" indent="-415607" lvl="1">
              <a:lnSpc>
                <a:spcPts val="5389"/>
              </a:lnSpc>
              <a:buFont typeface="Arial"/>
              <a:buChar char="•"/>
            </a:pPr>
            <a:r>
              <a:rPr lang="en-US" b="true" sz="384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Usa três exemplos:</a:t>
            </a:r>
          </a:p>
          <a:p>
            <a:pPr algn="l" marL="831214" indent="-415607" lvl="1">
              <a:lnSpc>
                <a:spcPts val="5389"/>
              </a:lnSpc>
              <a:buFont typeface="Arial"/>
              <a:buChar char="•"/>
            </a:pPr>
            <a:r>
              <a:rPr lang="en-US" b="true" sz="384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Anchor (a), Positivo (p) da mesma classe, e Negativo (n) de outra classe.</a:t>
            </a:r>
          </a:p>
          <a:p>
            <a:pPr algn="l" marL="831214" indent="-415607" lvl="1">
              <a:lnSpc>
                <a:spcPts val="5389"/>
              </a:lnSpc>
              <a:buFont typeface="Arial"/>
              <a:buChar char="•"/>
            </a:pPr>
            <a:r>
              <a:rPr lang="en-US" b="true" sz="384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Objetivo: garantir que o positivo esteja mais próximo do que o negativo, por pelo menos uma margem m.</a:t>
            </a:r>
          </a:p>
          <a:p>
            <a:pPr algn="l" marL="831214" indent="-415607" lvl="1">
              <a:lnSpc>
                <a:spcPts val="5389"/>
              </a:lnSpc>
              <a:buFont typeface="Arial"/>
              <a:buChar char="•"/>
            </a:pPr>
            <a:r>
              <a:rPr lang="en-US" b="true" sz="384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Muito popular em verificação de identidade (faces, assinaturas, etc.).</a:t>
            </a:r>
          </a:p>
          <a:p>
            <a:pPr algn="l">
              <a:lnSpc>
                <a:spcPts val="5389"/>
              </a:lnSpc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3836" y="1370840"/>
            <a:ext cx="15598359" cy="8072151"/>
          </a:xfrm>
          <a:custGeom>
            <a:avLst/>
            <a:gdLst/>
            <a:ahLst/>
            <a:cxnLst/>
            <a:rect r="r" b="b" t="t" l="l"/>
            <a:pathLst>
              <a:path h="8072151" w="15598359">
                <a:moveTo>
                  <a:pt x="0" y="0"/>
                </a:moveTo>
                <a:lnTo>
                  <a:pt x="15598359" y="0"/>
                </a:lnTo>
                <a:lnTo>
                  <a:pt x="15598359" y="8072151"/>
                </a:lnTo>
                <a:lnTo>
                  <a:pt x="0" y="8072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22829" y="141605"/>
            <a:ext cx="44423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5-way 1-shot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33436" y="4666394"/>
            <a:ext cx="9021128" cy="125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b="true" sz="7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Arquitetura da RN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1733" y="69276"/>
            <a:ext cx="3044535" cy="10148449"/>
          </a:xfrm>
          <a:custGeom>
            <a:avLst/>
            <a:gdLst/>
            <a:ahLst/>
            <a:cxnLst/>
            <a:rect r="r" b="b" t="t" l="l"/>
            <a:pathLst>
              <a:path h="10148449" w="3044535">
                <a:moveTo>
                  <a:pt x="0" y="0"/>
                </a:moveTo>
                <a:lnTo>
                  <a:pt x="3044534" y="0"/>
                </a:lnTo>
                <a:lnTo>
                  <a:pt x="3044534" y="10148448"/>
                </a:lnTo>
                <a:lnTo>
                  <a:pt x="0" y="1014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2446803" cy="1297375"/>
          </a:xfrm>
          <a:custGeom>
            <a:avLst/>
            <a:gdLst/>
            <a:ahLst/>
            <a:cxnLst/>
            <a:rect r="r" b="b" t="t" l="l"/>
            <a:pathLst>
              <a:path h="1297375" w="2446803">
                <a:moveTo>
                  <a:pt x="0" y="0"/>
                </a:moveTo>
                <a:lnTo>
                  <a:pt x="2446803" y="0"/>
                </a:lnTo>
                <a:lnTo>
                  <a:pt x="2446803" y="1297375"/>
                </a:lnTo>
                <a:lnTo>
                  <a:pt x="0" y="1297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6999" y="1108923"/>
            <a:ext cx="430376" cy="430376"/>
          </a:xfrm>
          <a:custGeom>
            <a:avLst/>
            <a:gdLst/>
            <a:ahLst/>
            <a:cxnLst/>
            <a:rect r="r" b="b" t="t" l="l"/>
            <a:pathLst>
              <a:path h="430376" w="430376">
                <a:moveTo>
                  <a:pt x="0" y="0"/>
                </a:moveTo>
                <a:lnTo>
                  <a:pt x="430376" y="0"/>
                </a:lnTo>
                <a:lnTo>
                  <a:pt x="430376" y="430376"/>
                </a:lnTo>
                <a:lnTo>
                  <a:pt x="0" y="430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46173" y="2569509"/>
            <a:ext cx="292811" cy="292811"/>
          </a:xfrm>
          <a:custGeom>
            <a:avLst/>
            <a:gdLst/>
            <a:ahLst/>
            <a:cxnLst/>
            <a:rect r="r" b="b" t="t" l="l"/>
            <a:pathLst>
              <a:path h="292811" w="292811">
                <a:moveTo>
                  <a:pt x="0" y="0"/>
                </a:moveTo>
                <a:lnTo>
                  <a:pt x="292811" y="0"/>
                </a:lnTo>
                <a:lnTo>
                  <a:pt x="292811" y="292811"/>
                </a:lnTo>
                <a:lnTo>
                  <a:pt x="0" y="292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46173" y="3881810"/>
            <a:ext cx="292811" cy="292811"/>
          </a:xfrm>
          <a:custGeom>
            <a:avLst/>
            <a:gdLst/>
            <a:ahLst/>
            <a:cxnLst/>
            <a:rect r="r" b="b" t="t" l="l"/>
            <a:pathLst>
              <a:path h="292811" w="292811">
                <a:moveTo>
                  <a:pt x="0" y="0"/>
                </a:moveTo>
                <a:lnTo>
                  <a:pt x="292811" y="0"/>
                </a:lnTo>
                <a:lnTo>
                  <a:pt x="292811" y="292811"/>
                </a:lnTo>
                <a:lnTo>
                  <a:pt x="0" y="292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46173" y="5527251"/>
            <a:ext cx="292811" cy="292811"/>
          </a:xfrm>
          <a:custGeom>
            <a:avLst/>
            <a:gdLst/>
            <a:ahLst/>
            <a:cxnLst/>
            <a:rect r="r" b="b" t="t" l="l"/>
            <a:pathLst>
              <a:path h="292811" w="292811">
                <a:moveTo>
                  <a:pt x="0" y="0"/>
                </a:moveTo>
                <a:lnTo>
                  <a:pt x="292811" y="0"/>
                </a:lnTo>
                <a:lnTo>
                  <a:pt x="292811" y="292811"/>
                </a:lnTo>
                <a:lnTo>
                  <a:pt x="0" y="292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46173" y="6481607"/>
            <a:ext cx="292811" cy="292811"/>
          </a:xfrm>
          <a:custGeom>
            <a:avLst/>
            <a:gdLst/>
            <a:ahLst/>
            <a:cxnLst/>
            <a:rect r="r" b="b" t="t" l="l"/>
            <a:pathLst>
              <a:path h="292811" w="292811">
                <a:moveTo>
                  <a:pt x="0" y="0"/>
                </a:moveTo>
                <a:lnTo>
                  <a:pt x="292811" y="0"/>
                </a:lnTo>
                <a:lnTo>
                  <a:pt x="292811" y="292811"/>
                </a:lnTo>
                <a:lnTo>
                  <a:pt x="0" y="292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46173" y="7793593"/>
            <a:ext cx="292811" cy="292811"/>
          </a:xfrm>
          <a:custGeom>
            <a:avLst/>
            <a:gdLst/>
            <a:ahLst/>
            <a:cxnLst/>
            <a:rect r="r" b="b" t="t" l="l"/>
            <a:pathLst>
              <a:path h="292811" w="292811">
                <a:moveTo>
                  <a:pt x="0" y="0"/>
                </a:moveTo>
                <a:lnTo>
                  <a:pt x="292811" y="0"/>
                </a:lnTo>
                <a:lnTo>
                  <a:pt x="292811" y="292811"/>
                </a:lnTo>
                <a:lnTo>
                  <a:pt x="0" y="292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46173" y="9042619"/>
            <a:ext cx="292811" cy="292811"/>
          </a:xfrm>
          <a:custGeom>
            <a:avLst/>
            <a:gdLst/>
            <a:ahLst/>
            <a:cxnLst/>
            <a:rect r="r" b="b" t="t" l="l"/>
            <a:pathLst>
              <a:path h="292811" w="292811">
                <a:moveTo>
                  <a:pt x="0" y="0"/>
                </a:moveTo>
                <a:lnTo>
                  <a:pt x="292811" y="0"/>
                </a:lnTo>
                <a:lnTo>
                  <a:pt x="292811" y="292811"/>
                </a:lnTo>
                <a:lnTo>
                  <a:pt x="0" y="292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4663" y="4656408"/>
            <a:ext cx="3086100" cy="1530422"/>
            <a:chOff x="0" y="0"/>
            <a:chExt cx="812800" cy="403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31109" y="4656408"/>
            <a:ext cx="3086100" cy="1530422"/>
            <a:chOff x="0" y="0"/>
            <a:chExt cx="812800" cy="4030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4173" y="4656408"/>
            <a:ext cx="3086100" cy="1530422"/>
            <a:chOff x="0" y="0"/>
            <a:chExt cx="812800" cy="4030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17237" y="4656408"/>
            <a:ext cx="3086100" cy="1530422"/>
            <a:chOff x="0" y="0"/>
            <a:chExt cx="812800" cy="4030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895350"/>
            <a:ext cx="5998252" cy="117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8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</a:t>
            </a:r>
            <a:r>
              <a:rPr lang="en-US" b="true" sz="68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timização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62852" y="5107611"/>
            <a:ext cx="252972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Foward Pass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5070763" y="5421619"/>
            <a:ext cx="65696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V="true">
            <a:off x="8817209" y="5440669"/>
            <a:ext cx="65696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flipV="true">
            <a:off x="12560273" y="5440669"/>
            <a:ext cx="65696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5808035" y="5126661"/>
            <a:ext cx="292715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Loss Function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3073" y="5086350"/>
            <a:ext cx="258830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Backpropag.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09896" y="5143171"/>
            <a:ext cx="15007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Update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086100" cy="1530422"/>
            <a:chOff x="0" y="0"/>
            <a:chExt cx="812800" cy="403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06890" y="1479903"/>
            <a:ext cx="252972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Foward Pass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66073" y="4388719"/>
            <a:ext cx="13955853" cy="150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0"/>
              </a:lnSpc>
            </a:pPr>
            <a:r>
              <a:rPr lang="en-US" sz="43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</a:t>
            </a:r>
            <a:r>
              <a:rPr lang="en-US" sz="43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ery + sample passam pelo Embedding Module    Relation Module    Gera relation score (0 a 1).</a:t>
            </a:r>
          </a:p>
        </p:txBody>
      </p:sp>
      <p:sp>
        <p:nvSpPr>
          <p:cNvPr name="AutoShape 7" id="7"/>
          <p:cNvSpPr/>
          <p:nvPr/>
        </p:nvSpPr>
        <p:spPr>
          <a:xfrm>
            <a:off x="2184932" y="5590911"/>
            <a:ext cx="3868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7735160" y="5590911"/>
            <a:ext cx="3868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086100" cy="1530422"/>
            <a:chOff x="0" y="0"/>
            <a:chExt cx="812800" cy="403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05626" y="1498953"/>
            <a:ext cx="292715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Loss Function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0673" y="4350893"/>
            <a:ext cx="13567604" cy="150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6"/>
              </a:lnSpc>
            </a:pPr>
            <a:r>
              <a:rPr lang="en-US" sz="434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Eles usam mea</a:t>
            </a:r>
            <a:r>
              <a:rPr lang="en-US" sz="434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 square error (MSE loss) entre o relation score e o rótulo da classe (0 ou 1).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086100" cy="1530422"/>
            <a:chOff x="0" y="0"/>
            <a:chExt cx="812800" cy="403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77600" y="1458642"/>
            <a:ext cx="258830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Backpropag.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96179" y="3965131"/>
            <a:ext cx="12295641" cy="22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6"/>
              </a:lnSpc>
            </a:pPr>
            <a:r>
              <a:rPr lang="en-US" sz="434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 gradie</a:t>
            </a:r>
            <a:r>
              <a:rPr lang="en-US" sz="434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nte da loss é propagado tanto para o relation module quanto para o embedding module.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086100" cy="1530422"/>
            <a:chOff x="0" y="0"/>
            <a:chExt cx="812800" cy="403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3074"/>
            </a:xfrm>
            <a:custGeom>
              <a:avLst/>
              <a:gdLst/>
              <a:ahLst/>
              <a:cxnLst/>
              <a:rect r="r" b="b" t="t" l="l"/>
              <a:pathLst>
                <a:path h="40307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5133"/>
                  </a:lnTo>
                  <a:cubicBezTo>
                    <a:pt x="812800" y="309065"/>
                    <a:pt x="799321" y="341608"/>
                    <a:pt x="775327" y="365601"/>
                  </a:cubicBezTo>
                  <a:cubicBezTo>
                    <a:pt x="751333" y="389595"/>
                    <a:pt x="718791" y="403074"/>
                    <a:pt x="684859" y="403074"/>
                  </a:cubicBezTo>
                  <a:lnTo>
                    <a:pt x="127941" y="403074"/>
                  </a:lnTo>
                  <a:cubicBezTo>
                    <a:pt x="94009" y="403074"/>
                    <a:pt x="61467" y="389595"/>
                    <a:pt x="37473" y="365601"/>
                  </a:cubicBezTo>
                  <a:cubicBezTo>
                    <a:pt x="13479" y="341608"/>
                    <a:pt x="0" y="309065"/>
                    <a:pt x="0" y="27513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7B8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12800" cy="51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21359" y="1515464"/>
            <a:ext cx="15007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Update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88692" y="3193606"/>
            <a:ext cx="10910615" cy="382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7007" indent="-468503" lvl="1">
              <a:lnSpc>
                <a:spcPts val="6076"/>
              </a:lnSpc>
              <a:buFont typeface="Arial"/>
              <a:buChar char="•"/>
            </a:pPr>
            <a:r>
              <a:rPr lang="en-US" sz="434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Otimizador Adam (às vezes SGD em experime</a:t>
            </a:r>
            <a:r>
              <a:rPr lang="en-US" sz="434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ntos comparativos).</a:t>
            </a:r>
          </a:p>
          <a:p>
            <a:pPr algn="l" marL="937007" indent="-468503" lvl="1">
              <a:lnSpc>
                <a:spcPts val="6076"/>
              </a:lnSpc>
              <a:buFont typeface="Arial"/>
              <a:buChar char="•"/>
            </a:pPr>
            <a:r>
              <a:rPr lang="en-US" sz="434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Learning rate ajustado durante os episódios de treino.</a:t>
            </a:r>
          </a:p>
          <a:p>
            <a:pPr algn="l">
              <a:lnSpc>
                <a:spcPts val="6076"/>
              </a:lnSpc>
            </a:pP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0708481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Por que SGD ou Adam?</a:t>
            </a:r>
          </a:p>
        </p:txBody>
      </p:sp>
      <p:sp>
        <p:nvSpPr>
          <p:cNvPr name="AutoShape 3" id="3"/>
          <p:cNvSpPr/>
          <p:nvPr/>
        </p:nvSpPr>
        <p:spPr>
          <a:xfrm>
            <a:off x="9144000" y="3278155"/>
            <a:ext cx="9525" cy="72410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837306" y="3192430"/>
            <a:ext cx="1342192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SGD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086350"/>
            <a:ext cx="7915917" cy="273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6828" indent="-278414" lvl="1">
              <a:lnSpc>
                <a:spcPts val="3610"/>
              </a:lnSpc>
              <a:buFont typeface="Arial"/>
              <a:buChar char="•"/>
            </a:pPr>
            <a:r>
              <a:rPr lang="en-US" b="true" sz="257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Atualiza o</a:t>
            </a:r>
            <a:r>
              <a:rPr lang="en-US" b="true" sz="257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 pesos com base em pequenos lotes (batches) de dados.</a:t>
            </a:r>
          </a:p>
          <a:p>
            <a:pPr algn="l" marL="556828" indent="-278414" lvl="1">
              <a:lnSpc>
                <a:spcPts val="3610"/>
              </a:lnSpc>
              <a:buFont typeface="Arial"/>
              <a:buChar char="•"/>
            </a:pPr>
            <a:r>
              <a:rPr lang="en-US" b="true" sz="257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Simples, robusto e funciona bem, mas pode ser lento em convergência, especialmente em problemas com muitos parâmetros.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18064" y="3192430"/>
            <a:ext cx="1728907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Adam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97127" y="4857761"/>
            <a:ext cx="6437595" cy="319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022" indent="-278511" lvl="1">
              <a:lnSpc>
                <a:spcPts val="3611"/>
              </a:lnSpc>
              <a:buFont typeface="Arial"/>
              <a:buChar char="•"/>
            </a:pPr>
            <a:r>
              <a:rPr lang="en-US" b="true" sz="257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Ma</a:t>
            </a:r>
            <a:r>
              <a:rPr lang="en-US" b="true" sz="257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ntém médias móveis do gradiente (1º momento) e do quadrado do gradiente (2º momento).</a:t>
            </a:r>
          </a:p>
          <a:p>
            <a:pPr algn="l" marL="557022" indent="-278511" lvl="1">
              <a:lnSpc>
                <a:spcPts val="3611"/>
              </a:lnSpc>
              <a:buFont typeface="Arial"/>
              <a:buChar char="•"/>
            </a:pPr>
            <a:r>
              <a:rPr lang="en-US" b="true" sz="257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Isso ajusta automaticamente a taxa de aprendizado para cada parâmetro.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5350" y="4389520"/>
            <a:ext cx="13369871" cy="132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</a:pPr>
            <a:r>
              <a:rPr lang="en-US" b="true" sz="75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Vantagens e desvantagens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253398" y="809897"/>
          <a:ext cx="11781203" cy="8667205"/>
        </p:xfrm>
        <a:graphic>
          <a:graphicData uri="http://schemas.openxmlformats.org/drawingml/2006/table">
            <a:tbl>
              <a:tblPr/>
              <a:tblGrid>
                <a:gridCol w="5890602"/>
                <a:gridCol w="5890602"/>
              </a:tblGrid>
              <a:tr h="1733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true">
                          <a:solidFill>
                            <a:srgbClr val="00BF63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Vantagens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 b="true">
                          <a:solidFill>
                            <a:srgbClr val="E70D08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Desvantagens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441">
                <a:tc>
                  <a:txBody>
                    <a:bodyPr anchor="t" rtlCol="false"/>
                    <a:lstStyle/>
                    <a:p>
                      <a:pPr algn="ctr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Não precisa de fine-tuning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Custo computacional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441">
                <a:tc>
                  <a:txBody>
                    <a:bodyPr anchor="t" rtlCol="false"/>
                    <a:lstStyle/>
                    <a:p>
                      <a:pPr algn="ctr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Aprende a métrica automaticamente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Escalabilidade limitada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441">
                <a:tc>
                  <a:txBody>
                    <a:bodyPr anchor="t" rtlCol="false"/>
                    <a:lstStyle/>
                    <a:p>
                      <a:pPr algn="ctr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Treinamento end-to-end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Dependência do dataset de treino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441">
                <a:tc>
                  <a:txBody>
                    <a:bodyPr anchor="t" rtlCol="false"/>
                    <a:lstStyle/>
                    <a:p>
                      <a:pPr algn="ctr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Alto desempenho em few-shot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Menor interpretabilidade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46847" y="4416762"/>
            <a:ext cx="12009977" cy="126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b="true" sz="7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Exemplo(s) de aplicação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14400"/>
            <a:ext cx="754725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Dataset Omniglot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54693"/>
            <a:ext cx="12091035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Contém 1623 classes (caracteres) de 50 alfabetos diferentes.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Cada classe tem 20 exemplos.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1200 caracteres para treinamento (Sample/Query)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423 caracteres para teste (Support/Test)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72327" y="4474207"/>
            <a:ext cx="630947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Experimentos: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502272"/>
            <a:ext cx="341149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5-way 1-shot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5-way 5-shot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20-way 1-shot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20-way 5-shot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4692" y="2119481"/>
            <a:ext cx="17417108" cy="6117759"/>
          </a:xfrm>
          <a:custGeom>
            <a:avLst/>
            <a:gdLst/>
            <a:ahLst/>
            <a:cxnLst/>
            <a:rect r="r" b="b" t="t" l="l"/>
            <a:pathLst>
              <a:path h="6117759" w="17417108">
                <a:moveTo>
                  <a:pt x="0" y="0"/>
                </a:moveTo>
                <a:lnTo>
                  <a:pt x="17417108" y="0"/>
                </a:lnTo>
                <a:lnTo>
                  <a:pt x="17417108" y="6117759"/>
                </a:lnTo>
                <a:lnTo>
                  <a:pt x="0" y="6117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74875" y="4445632"/>
            <a:ext cx="8138251" cy="125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b="true" sz="7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Implementação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28549" y="1345319"/>
            <a:ext cx="9830901" cy="4264876"/>
          </a:xfrm>
          <a:custGeom>
            <a:avLst/>
            <a:gdLst/>
            <a:ahLst/>
            <a:cxnLst/>
            <a:rect r="r" b="b" t="t" l="l"/>
            <a:pathLst>
              <a:path h="4264876" w="9830901">
                <a:moveTo>
                  <a:pt x="0" y="0"/>
                </a:moveTo>
                <a:lnTo>
                  <a:pt x="9830902" y="0"/>
                </a:lnTo>
                <a:lnTo>
                  <a:pt x="9830902" y="4264876"/>
                </a:lnTo>
                <a:lnTo>
                  <a:pt x="0" y="4264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45179" y="7625715"/>
            <a:ext cx="2014121" cy="2014121"/>
          </a:xfrm>
          <a:custGeom>
            <a:avLst/>
            <a:gdLst/>
            <a:ahLst/>
            <a:cxnLst/>
            <a:rect r="r" b="b" t="t" l="l"/>
            <a:pathLst>
              <a:path h="2014121" w="2014121">
                <a:moveTo>
                  <a:pt x="0" y="0"/>
                </a:moveTo>
                <a:lnTo>
                  <a:pt x="2014121" y="0"/>
                </a:lnTo>
                <a:lnTo>
                  <a:pt x="2014121" y="2014121"/>
                </a:lnTo>
                <a:lnTo>
                  <a:pt x="0" y="2014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98614" y="5945505"/>
            <a:ext cx="13290771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Aqui, a rede foi avaliada em 20 episódios de teste usando classes nunca vistas no treino.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Ela atingiu 84% de acurácia média.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Isso significa que, mesmo sem nunca ter visto essas classes, ela conseguiu classificar 84% das queries corretamente com base em poucos exemplos de suporte (few-shot).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465749"/>
            <a:ext cx="16897779" cy="119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60"/>
              </a:lnSpc>
            </a:pPr>
            <a:r>
              <a:rPr lang="en-US" b="true" sz="69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Comparação com outros algoritmos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084003" y="248164"/>
          <a:ext cx="6286500" cy="3352800"/>
        </p:xfrm>
        <a:graphic>
          <a:graphicData uri="http://schemas.openxmlformats.org/presentationml/2006/ole">
            <p:oleObj imgW="7543800" imgH="4610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3815" y="1028700"/>
            <a:ext cx="1319305" cy="1376068"/>
          </a:xfrm>
          <a:custGeom>
            <a:avLst/>
            <a:gdLst/>
            <a:ahLst/>
            <a:cxnLst/>
            <a:rect r="r" b="b" t="t" l="l"/>
            <a:pathLst>
              <a:path h="1376068" w="1319305">
                <a:moveTo>
                  <a:pt x="0" y="0"/>
                </a:moveTo>
                <a:lnTo>
                  <a:pt x="1319305" y="0"/>
                </a:lnTo>
                <a:lnTo>
                  <a:pt x="1319305" y="1376068"/>
                </a:lnTo>
                <a:lnTo>
                  <a:pt x="0" y="1376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2330" y="1239974"/>
            <a:ext cx="5021485" cy="120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Conclusão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3101" y="3550270"/>
            <a:ext cx="15079943" cy="31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187" indent="-383093" lvl="1">
              <a:lnSpc>
                <a:spcPts val="4968"/>
              </a:lnSpc>
              <a:buFont typeface="Arial"/>
              <a:buChar char="•"/>
            </a:pPr>
            <a:r>
              <a:rPr lang="en-US" sz="354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54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Aprendem similaridade end-to-end</a:t>
            </a:r>
          </a:p>
          <a:p>
            <a:pPr algn="l" marL="766187" indent="-383093" lvl="1">
              <a:lnSpc>
                <a:spcPts val="4968"/>
              </a:lnSpc>
              <a:buFont typeface="Arial"/>
              <a:buChar char="•"/>
            </a:pPr>
            <a:r>
              <a:rPr lang="en-US" sz="354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Superam métodos clássicos (Siamese, Matching, Prototypical)</a:t>
            </a:r>
          </a:p>
          <a:p>
            <a:pPr algn="l" marL="766187" indent="-383093" lvl="1">
              <a:lnSpc>
                <a:spcPts val="4968"/>
              </a:lnSpc>
              <a:buFont typeface="Arial"/>
              <a:buChar char="•"/>
            </a:pPr>
            <a:r>
              <a:rPr lang="en-US" sz="354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Generalizam bem para classes nunca vistas</a:t>
            </a:r>
          </a:p>
          <a:p>
            <a:pPr algn="l" marL="766187" indent="-383093" lvl="1">
              <a:lnSpc>
                <a:spcPts val="4968"/>
              </a:lnSpc>
              <a:buFont typeface="Arial"/>
              <a:buChar char="•"/>
            </a:pPr>
            <a:r>
              <a:rPr lang="en-US" sz="354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Simples no conceito, eficientes em few-shot</a:t>
            </a:r>
          </a:p>
          <a:p>
            <a:pPr algn="l" marL="766187" indent="-383093" lvl="1">
              <a:lnSpc>
                <a:spcPts val="4968"/>
              </a:lnSpc>
              <a:buFont typeface="Arial"/>
              <a:buChar char="•"/>
            </a:pPr>
            <a:r>
              <a:rPr lang="en-US" sz="354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Limitação: alto custo computacional em muitos exemplos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40118" y="4029542"/>
            <a:ext cx="7272747" cy="170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b="true" sz="99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Perguntas?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300" y="1377124"/>
            <a:ext cx="5303349" cy="66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b="true" sz="66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Referências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7300" y="3406877"/>
            <a:ext cx="715684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2" tooltip="https://arxiv.org/pdf/1711.06025"/>
              </a:rPr>
              <a:t>https://arxiv.org/pdf/1711.06025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7300" y="4136924"/>
            <a:ext cx="656558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3" tooltip="https://github.com/floodsung"/>
              </a:rPr>
              <a:t>https://github.com/floodsung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7300" y="4867174"/>
            <a:ext cx="15946956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4" tooltip="https://pyimagesearch.com/2020/11/30/siamese-networks-with-keras-tensorflow-and-deep-learning/"/>
              </a:rPr>
              <a:t>https://pyimagesearch.com/2020/11/30/siamese-networks-with-keras-tensorflow-and-deep-learning/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300" y="6216548"/>
            <a:ext cx="1264062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5" tooltip="https://www.cs.cmu.edu/~rsalakhu/papers/oneshot1.pdf"/>
              </a:rPr>
              <a:t>https://www.cs.cmu.edu/~rsalakhu/papers/oneshot1.pdf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1733" y="4029542"/>
            <a:ext cx="6718735" cy="170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b="true" sz="99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Obrigada!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27731" y="2092919"/>
            <a:ext cx="1627546" cy="1530010"/>
          </a:xfrm>
          <a:custGeom>
            <a:avLst/>
            <a:gdLst/>
            <a:ahLst/>
            <a:cxnLst/>
            <a:rect r="r" b="b" t="t" l="l"/>
            <a:pathLst>
              <a:path h="1530010" w="1627546">
                <a:moveTo>
                  <a:pt x="0" y="0"/>
                </a:moveTo>
                <a:lnTo>
                  <a:pt x="1627546" y="0"/>
                </a:lnTo>
                <a:lnTo>
                  <a:pt x="1627546" y="1530010"/>
                </a:lnTo>
                <a:lnTo>
                  <a:pt x="0" y="1530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7523" y="3543414"/>
            <a:ext cx="5632954" cy="5632954"/>
          </a:xfrm>
          <a:custGeom>
            <a:avLst/>
            <a:gdLst/>
            <a:ahLst/>
            <a:cxnLst/>
            <a:rect r="r" b="b" t="t" l="l"/>
            <a:pathLst>
              <a:path h="5632954" w="5632954">
                <a:moveTo>
                  <a:pt x="0" y="0"/>
                </a:moveTo>
                <a:lnTo>
                  <a:pt x="5632954" y="0"/>
                </a:lnTo>
                <a:lnTo>
                  <a:pt x="5632954" y="5632955"/>
                </a:lnTo>
                <a:lnTo>
                  <a:pt x="0" y="5632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6919" y="1958273"/>
            <a:ext cx="7235828" cy="158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b="true" sz="9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Formulário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DAGxvYO3jjg</dc:identifier>
  <dcterms:modified xsi:type="dcterms:W3CDTF">2011-08-01T06:04:30Z</dcterms:modified>
  <cp:revision>1</cp:revision>
  <dc:title>TP558 - Tópicos avançados em Machine Learning: RN</dc:title>
</cp:coreProperties>
</file>