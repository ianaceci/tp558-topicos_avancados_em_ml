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alibri (MS) Light" charset="1" panose="020F0302020204030204"/>
      <p:regular r:id="rId43"/>
    </p:embeddedFont>
    <p:embeddedFont>
      <p:font typeface="Calibri (MS) Bold" charset="1" panose="020F0702030404030204"/>
      <p:regular r:id="rId44"/>
    </p:embeddedFont>
    <p:embeddedFont>
      <p:font typeface="Libre Baskerville" charset="1" panose="02000000000000000000"/>
      <p:regular r:id="rId45"/>
    </p:embeddedFont>
    <p:embeddedFont>
      <p:font typeface="Libre Baskerville Bold" charset="1" panose="02000000000000000000"/>
      <p:regular r:id="rId46"/>
    </p:embeddedFont>
    <p:embeddedFont>
      <p:font typeface="Libre Baskerville Italics" charset="1" panose="02000000000000000000"/>
      <p:regular r:id="rId47"/>
    </p:embeddedFont>
    <p:embeddedFont>
      <p:font typeface="Noto Kufi Arabic" charset="1" panose="020B05060308040202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https://pyimagesearch.com/2020/11/30/siamese-networks-with-keras-tensorflow-and-deep-learning/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yimagesearch.com/2020/11/30/siamese-networks-with-keras-tensorflow-and-deep-learning/" TargetMode="External" Type="http://schemas.openxmlformats.org/officeDocument/2006/relationships/hyperlink"/><Relationship Id="rId3" Target="https://pyimagesearch.com/2020/11/30/siamese-networks-with-keras-tensorflow-and-deep-learning/" TargetMode="External" Type="http://schemas.openxmlformats.org/officeDocument/2006/relationships/hyperlink"/><Relationship Id="rId4" Target="https://www.cs.cmu.edu/~rsalakhu/papers/oneshot1.pdf" TargetMode="External" Type="http://schemas.openxmlformats.org/officeDocument/2006/relationships/hyperlink"/><Relationship Id="rId5" Target="https://www.cs.cmu.edu/~rsalakhu/papers/oneshot1.pdf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"/>
          <p:cNvSpPr/>
          <p:nvPr/>
        </p:nvSpPr>
        <p:spPr>
          <a:xfrm flipH="false" flipV="false" rot="0">
            <a:off x="589959" y="8670903"/>
            <a:ext cx="3392043" cy="1015651"/>
          </a:xfrm>
          <a:custGeom>
            <a:avLst/>
            <a:gdLst/>
            <a:ahLst/>
            <a:cxnLst/>
            <a:rect r="r" b="b" t="t" l="l"/>
            <a:pathLst>
              <a:path h="1015651" w="3392043">
                <a:moveTo>
                  <a:pt x="0" y="0"/>
                </a:moveTo>
                <a:lnTo>
                  <a:pt x="3392043" y="0"/>
                </a:lnTo>
                <a:lnTo>
                  <a:pt x="3392043" y="1015651"/>
                </a:lnTo>
                <a:lnTo>
                  <a:pt x="0" y="1015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976" r="-3" b="-68355"/>
            </a:stretch>
          </a:blipFill>
        </p:spPr>
      </p:sp>
      <p:sp>
        <p:nvSpPr>
          <p:cNvPr name="Freeform 3" id="3" descr="Image result for machine learning"/>
          <p:cNvSpPr/>
          <p:nvPr/>
        </p:nvSpPr>
        <p:spPr>
          <a:xfrm flipH="false" flipV="false" rot="0">
            <a:off x="7594206" y="5831843"/>
            <a:ext cx="3099559" cy="3064859"/>
          </a:xfrm>
          <a:custGeom>
            <a:avLst/>
            <a:gdLst/>
            <a:ahLst/>
            <a:cxnLst/>
            <a:rect r="r" b="b" t="t" l="l"/>
            <a:pathLst>
              <a:path h="3064859" w="3099559">
                <a:moveTo>
                  <a:pt x="0" y="0"/>
                </a:moveTo>
                <a:lnTo>
                  <a:pt x="3099559" y="0"/>
                </a:lnTo>
                <a:lnTo>
                  <a:pt x="3099559" y="3064859"/>
                </a:lnTo>
                <a:lnTo>
                  <a:pt x="0" y="3064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934" t="-9450" r="-22288" b="-698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8353" y="1598609"/>
            <a:ext cx="12577858" cy="344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1"/>
              </a:lnSpc>
            </a:pPr>
            <a:r>
              <a:rPr lang="en-US" sz="7800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TP558 - Tópicos avançados em Machine Learning:</a:t>
            </a:r>
          </a:p>
          <a:p>
            <a:pPr algn="ctr">
              <a:lnSpc>
                <a:spcPts val="8624"/>
              </a:lnSpc>
            </a:pPr>
            <a:r>
              <a:rPr lang="en-US" b="true" sz="8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Siamese Neural Networksfor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51169" y="3822135"/>
            <a:ext cx="234296" cy="122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6"/>
              </a:lnSpc>
            </a:pPr>
            <a:r>
              <a:rPr lang="en-US" b="true" sz="8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54709" y="4907985"/>
            <a:ext cx="12218146" cy="123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4"/>
              </a:lnSpc>
            </a:pPr>
            <a:r>
              <a:rPr lang="en-US" b="true" sz="8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One-shot Image Recognition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65143" y="8710908"/>
            <a:ext cx="5851446" cy="137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Ana Cecília Silveira Fernandes ana.fernandes@mtel.inatel.br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113" y="4239892"/>
            <a:ext cx="7021325" cy="158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b="true" sz="9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Introdução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069" y="-63503"/>
            <a:ext cx="3388966" cy="2230984"/>
          </a:xfrm>
          <a:custGeom>
            <a:avLst/>
            <a:gdLst/>
            <a:ahLst/>
            <a:cxnLst/>
            <a:rect r="r" b="b" t="t" l="l"/>
            <a:pathLst>
              <a:path h="2230984" w="3388966">
                <a:moveTo>
                  <a:pt x="0" y="0"/>
                </a:moveTo>
                <a:lnTo>
                  <a:pt x="3388966" y="0"/>
                </a:lnTo>
                <a:lnTo>
                  <a:pt x="3388966" y="2230983"/>
                </a:lnTo>
                <a:lnTo>
                  <a:pt x="0" y="2230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09976" y="6635525"/>
            <a:ext cx="4141518" cy="3714979"/>
          </a:xfrm>
          <a:custGeom>
            <a:avLst/>
            <a:gdLst/>
            <a:ahLst/>
            <a:cxnLst/>
            <a:rect r="r" b="b" t="t" l="l"/>
            <a:pathLst>
              <a:path h="3714979" w="4141518">
                <a:moveTo>
                  <a:pt x="0" y="0"/>
                </a:moveTo>
                <a:lnTo>
                  <a:pt x="4141518" y="0"/>
                </a:lnTo>
                <a:lnTo>
                  <a:pt x="4141518" y="3714978"/>
                </a:lnTo>
                <a:lnTo>
                  <a:pt x="0" y="3714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3083" y="2430618"/>
            <a:ext cx="14320523" cy="46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 aprendizado de máquina, treinar bons modelos geralmente requer muito dados e alto poder computacional. Mas e quando temos apenas </a:t>
            </a:r>
            <a:r>
              <a:rPr lang="en-US" sz="5308" i="tru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um único</a:t>
            </a:r>
            <a:r>
              <a:rPr lang="en-US" sz="530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exemplo de cada classe?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3463" y="7136835"/>
            <a:ext cx="1371600" cy="1657350"/>
          </a:xfrm>
          <a:custGeom>
            <a:avLst/>
            <a:gdLst/>
            <a:ahLst/>
            <a:cxnLst/>
            <a:rect r="r" b="b" t="t" l="l"/>
            <a:pathLst>
              <a:path h="1657350" w="1371600">
                <a:moveTo>
                  <a:pt x="0" y="0"/>
                </a:moveTo>
                <a:lnTo>
                  <a:pt x="1371600" y="0"/>
                </a:lnTo>
                <a:lnTo>
                  <a:pt x="137160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2765" y="7225017"/>
            <a:ext cx="1371600" cy="1657350"/>
          </a:xfrm>
          <a:custGeom>
            <a:avLst/>
            <a:gdLst/>
            <a:ahLst/>
            <a:cxnLst/>
            <a:rect r="r" b="b" t="t" l="l"/>
            <a:pathLst>
              <a:path h="1657350" w="1371600">
                <a:moveTo>
                  <a:pt x="0" y="0"/>
                </a:moveTo>
                <a:lnTo>
                  <a:pt x="1371600" y="0"/>
                </a:lnTo>
                <a:lnTo>
                  <a:pt x="1371600" y="1657350"/>
                </a:lnTo>
                <a:lnTo>
                  <a:pt x="0" y="1657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84283" y="6221568"/>
            <a:ext cx="197358" cy="90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9"/>
              </a:lnSpc>
            </a:pPr>
            <a:r>
              <a:rPr lang="en-US" sz="530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75090" y="7163076"/>
            <a:ext cx="10340569" cy="132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8"/>
              </a:lnSpc>
            </a:pPr>
            <a:r>
              <a:rPr lang="en-US" b="true" sz="78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One-Shot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43083" y="2430618"/>
            <a:ext cx="14320523" cy="374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 aprendizado de máquina, treinar bons modelos geralmente requer muito dados e alto poder computacional. Mas e quando temos apenas </a:t>
            </a:r>
            <a:r>
              <a:rPr lang="en-US" sz="5308" i="tru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um único</a:t>
            </a:r>
            <a:r>
              <a:rPr lang="en-US" sz="530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exemplo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43083" y="6202518"/>
            <a:ext cx="5104924" cy="92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decada classe?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416" y="4489104"/>
            <a:ext cx="16834885" cy="115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9"/>
              </a:lnSpc>
            </a:pPr>
            <a:r>
              <a:rPr lang="en-US" b="true" sz="6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Fundamentação Teórica/Arquitetura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7978" y="743845"/>
            <a:ext cx="10372044" cy="9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b="true" sz="5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Zero-Shot Learning (ZSL)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2540" y="1836439"/>
            <a:ext cx="12502920" cy="791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Modelo capaz de reconhecer classes nunca vistas no treinamento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Utiliza descrições semânticas (ex.: atributos, embeddings de palavras, textos) para generalizar.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Dispe</a:t>
            </a: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nsa exemplos rotulados das novas classes.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Permite clas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sificar tarefas ou categorias inéditas com base em conhecimento prévio.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Exemplo: reconhecer uma zebra sem nunca ter visto imagens dela, apenas pela descrição “animal parecido com cavalo, mas com listras”.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Aplicações: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NLP → classificação de textos em categorias não vistas, tradução entre idiomas não treinados diretamente.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Visão computacional → identificação de objetos inéditos</a:t>
            </a:r>
          </a:p>
          <a:p>
            <a:pPr algn="l" marL="1209045" indent="-403015" lvl="2">
              <a:lnSpc>
                <a:spcPts val="3920"/>
              </a:lnSpc>
              <a:buFont typeface="Arial"/>
              <a:buChar char="⚬"/>
            </a:pPr>
            <a:r>
              <a:rPr lang="en-US" sz="28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Sistemas de recomendação → sugerir itens novos apenas pela descrição.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205" y="653191"/>
            <a:ext cx="14905591" cy="8980618"/>
          </a:xfrm>
          <a:custGeom>
            <a:avLst/>
            <a:gdLst/>
            <a:ahLst/>
            <a:cxnLst/>
            <a:rect r="r" b="b" t="t" l="l"/>
            <a:pathLst>
              <a:path h="8980618" w="14905591">
                <a:moveTo>
                  <a:pt x="0" y="0"/>
                </a:moveTo>
                <a:lnTo>
                  <a:pt x="14905590" y="0"/>
                </a:lnTo>
                <a:lnTo>
                  <a:pt x="14905590" y="8980618"/>
                </a:lnTo>
                <a:lnTo>
                  <a:pt x="0" y="8980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6723" y="923925"/>
            <a:ext cx="10394554" cy="96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b="true" sz="5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One-Shot Learning (OSL)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5823" y="2397760"/>
            <a:ext cx="14596354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Modelo aprende a reco</a:t>
            </a: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nhecer uma nova classe com apenas 1 exemplo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Muito usado em tarefas de comparação e verificação (ex.: redes siamesas)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Foca em aprender boas representações que permitam medir similaridade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Exemplo: identificar uma nova pessoa com apenas uma foto de referência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Diferença para Zero-Shot: OSL precisa de 1 amostra da nova classe, enquanto ZSL não precisa de nenhuma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Aplicações: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Reconhecimento facial e biometria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Deduplicação de imagens em e-commerce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Assinaturas e verificação de identidade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9149" y="283566"/>
            <a:ext cx="11429701" cy="9719867"/>
          </a:xfrm>
          <a:custGeom>
            <a:avLst/>
            <a:gdLst/>
            <a:ahLst/>
            <a:cxnLst/>
            <a:rect r="r" b="b" t="t" l="l"/>
            <a:pathLst>
              <a:path h="9719867" w="11429701">
                <a:moveTo>
                  <a:pt x="0" y="0"/>
                </a:moveTo>
                <a:lnTo>
                  <a:pt x="11429702" y="0"/>
                </a:lnTo>
                <a:lnTo>
                  <a:pt x="11429702" y="9719868"/>
                </a:lnTo>
                <a:lnTo>
                  <a:pt x="0" y="9719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364" y="460372"/>
            <a:ext cx="16727272" cy="9661522"/>
          </a:xfrm>
          <a:custGeom>
            <a:avLst/>
            <a:gdLst/>
            <a:ahLst/>
            <a:cxnLst/>
            <a:rect r="r" b="b" t="t" l="l"/>
            <a:pathLst>
              <a:path h="9661522" w="16727272">
                <a:moveTo>
                  <a:pt x="0" y="0"/>
                </a:moveTo>
                <a:lnTo>
                  <a:pt x="16727272" y="0"/>
                </a:lnTo>
                <a:lnTo>
                  <a:pt x="16727272" y="9661522"/>
                </a:lnTo>
                <a:lnTo>
                  <a:pt x="0" y="9661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7874" y="8886568"/>
            <a:ext cx="2458650" cy="60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Aplicações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2971" y="2123818"/>
            <a:ext cx="2264654" cy="96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Definição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3317" y="3419218"/>
            <a:ext cx="3467672" cy="159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Base de</a:t>
            </a:r>
          </a:p>
          <a:p>
            <a:pPr algn="ctr">
              <a:lnSpc>
                <a:spcPts val="1749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Conhecimento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38139" y="5333743"/>
            <a:ext cx="2009451" cy="97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9397" y="7276843"/>
            <a:ext cx="3863397" cy="60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Exemplo prático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1497" y="961768"/>
            <a:ext cx="4635798" cy="60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Zero-Shot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8775" y="961768"/>
            <a:ext cx="4520213" cy="60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One-Shot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97103" y="5645439"/>
            <a:ext cx="4379490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Transferir conhecimento para classes nunca vistas.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695" y="3845214"/>
            <a:ext cx="4661868" cy="115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Usa atributos, descrições semânticas ou embeddings para reconhecer classes novas.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06616" y="7017039"/>
            <a:ext cx="4564132" cy="115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Identificar um animal desconhecido com base em sua descrição textual.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7312" y="8398164"/>
            <a:ext cx="4848215" cy="138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Tradução automática para novos</a:t>
            </a:r>
          </a:p>
          <a:p>
            <a:pPr algn="ctr">
              <a:lnSpc>
                <a:spcPts val="1099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idiomas, classificação de imagens</a:t>
            </a:r>
          </a:p>
          <a:p>
            <a:pPr algn="ctr">
              <a:lnSpc>
                <a:spcPts val="5050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 rótulos de treino.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4919" y="2435514"/>
            <a:ext cx="5057080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 modelo não recebe exemplos da classe alvo.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9344" y="5645439"/>
            <a:ext cx="4396588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Generalizar a partir de poucos dados rotulados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7563" y="7217064"/>
            <a:ext cx="4400293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Reconhecer uma pessoa com apenas uma foto de referência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61424" y="2435514"/>
            <a:ext cx="4494609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Recebe um único exemplo por classe para aprender.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25077" y="8826789"/>
            <a:ext cx="5180743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Reconhecimento facial, diagnóstico de doenças raras, biometria etc.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3741" y="4035714"/>
            <a:ext cx="5081292" cy="76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1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Aprende a partir de exemplos reais (mesmo que apenas 1)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1600" y="740759"/>
            <a:ext cx="15506700" cy="8743950"/>
          </a:xfrm>
          <a:custGeom>
            <a:avLst/>
            <a:gdLst/>
            <a:ahLst/>
            <a:cxnLst/>
            <a:rect r="r" b="b" t="t" l="l"/>
            <a:pathLst>
              <a:path h="8743950" w="15506700">
                <a:moveTo>
                  <a:pt x="0" y="0"/>
                </a:moveTo>
                <a:lnTo>
                  <a:pt x="15506700" y="0"/>
                </a:lnTo>
                <a:lnTo>
                  <a:pt x="15506700" y="8743950"/>
                </a:lnTo>
                <a:lnTo>
                  <a:pt x="0" y="874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20682" y="1696002"/>
            <a:ext cx="12249150" cy="7562850"/>
          </a:xfrm>
          <a:custGeom>
            <a:avLst/>
            <a:gdLst/>
            <a:ahLst/>
            <a:cxnLst/>
            <a:rect r="r" b="b" t="t" l="l"/>
            <a:pathLst>
              <a:path h="7562850" w="12249150">
                <a:moveTo>
                  <a:pt x="0" y="0"/>
                </a:moveTo>
                <a:lnTo>
                  <a:pt x="12249150" y="0"/>
                </a:lnTo>
                <a:lnTo>
                  <a:pt x="12249150" y="7562850"/>
                </a:lnTo>
                <a:lnTo>
                  <a:pt x="0" y="7562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69907" y="9994125"/>
            <a:ext cx="9336434" cy="19050"/>
            <a:chOff x="0" y="0"/>
            <a:chExt cx="9336430" cy="19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6405" cy="19050"/>
            </a:xfrm>
            <a:custGeom>
              <a:avLst/>
              <a:gdLst/>
              <a:ahLst/>
              <a:cxnLst/>
              <a:rect r="r" b="b" t="t" l="l"/>
              <a:pathLst>
                <a:path h="19050" w="9336405">
                  <a:moveTo>
                    <a:pt x="0" y="0"/>
                  </a:moveTo>
                  <a:lnTo>
                    <a:pt x="0" y="19050"/>
                  </a:lnTo>
                  <a:lnTo>
                    <a:pt x="286893" y="19050"/>
                  </a:lnTo>
                  <a:lnTo>
                    <a:pt x="286893" y="0"/>
                  </a:lnTo>
                  <a:close/>
                  <a:moveTo>
                    <a:pt x="349250" y="0"/>
                  </a:moveTo>
                  <a:lnTo>
                    <a:pt x="349250" y="19050"/>
                  </a:lnTo>
                  <a:lnTo>
                    <a:pt x="717931" y="19050"/>
                  </a:lnTo>
                  <a:lnTo>
                    <a:pt x="717931" y="0"/>
                  </a:lnTo>
                  <a:close/>
                  <a:moveTo>
                    <a:pt x="780288" y="0"/>
                  </a:moveTo>
                  <a:lnTo>
                    <a:pt x="780288" y="19050"/>
                  </a:lnTo>
                  <a:lnTo>
                    <a:pt x="847090" y="19050"/>
                  </a:lnTo>
                  <a:lnTo>
                    <a:pt x="847090" y="0"/>
                  </a:lnTo>
                  <a:close/>
                  <a:moveTo>
                    <a:pt x="925703" y="0"/>
                  </a:moveTo>
                  <a:lnTo>
                    <a:pt x="925703" y="19050"/>
                  </a:lnTo>
                  <a:lnTo>
                    <a:pt x="1348867" y="19050"/>
                  </a:lnTo>
                  <a:lnTo>
                    <a:pt x="1348867" y="0"/>
                  </a:lnTo>
                  <a:close/>
                  <a:moveTo>
                    <a:pt x="1489456" y="0"/>
                  </a:moveTo>
                  <a:lnTo>
                    <a:pt x="1489456" y="19050"/>
                  </a:lnTo>
                  <a:lnTo>
                    <a:pt x="9111996" y="19050"/>
                  </a:lnTo>
                  <a:lnTo>
                    <a:pt x="9111996" y="0"/>
                  </a:lnTo>
                  <a:close/>
                  <a:moveTo>
                    <a:pt x="9174353" y="0"/>
                  </a:moveTo>
                  <a:lnTo>
                    <a:pt x="9174353" y="19050"/>
                  </a:lnTo>
                  <a:lnTo>
                    <a:pt x="9336405" y="19050"/>
                  </a:lnTo>
                  <a:lnTo>
                    <a:pt x="933640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9907" y="10270350"/>
            <a:ext cx="930326" cy="16650"/>
            <a:chOff x="0" y="0"/>
            <a:chExt cx="930326" cy="16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0275" cy="16637"/>
            </a:xfrm>
            <a:custGeom>
              <a:avLst/>
              <a:gdLst/>
              <a:ahLst/>
              <a:cxnLst/>
              <a:rect r="r" b="b" t="t" l="l"/>
              <a:pathLst>
                <a:path h="16637" w="930275">
                  <a:moveTo>
                    <a:pt x="0" y="0"/>
                  </a:moveTo>
                  <a:lnTo>
                    <a:pt x="0" y="16637"/>
                  </a:lnTo>
                  <a:lnTo>
                    <a:pt x="707517" y="16637"/>
                  </a:lnTo>
                  <a:lnTo>
                    <a:pt x="707517" y="0"/>
                  </a:lnTo>
                  <a:close/>
                  <a:moveTo>
                    <a:pt x="848106" y="0"/>
                  </a:moveTo>
                  <a:lnTo>
                    <a:pt x="848106" y="16637"/>
                  </a:lnTo>
                  <a:lnTo>
                    <a:pt x="930275" y="16637"/>
                  </a:lnTo>
                  <a:lnTo>
                    <a:pt x="93027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831165" y="499472"/>
            <a:ext cx="10088251" cy="91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Rede Neural Siamesa (SNN)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80231" y="9002144"/>
            <a:ext cx="1367819" cy="40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b="true" sz="18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II</a:t>
            </a:r>
            <a:r>
              <a:rPr lang="en-US" sz="18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Pequena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92395" y="9448371"/>
            <a:ext cx="1211761" cy="40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b="true" sz="1899" spc="32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II</a:t>
            </a:r>
            <a:r>
              <a:rPr lang="en-US" sz="1899" spc="3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Grande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2477" y="9002973"/>
            <a:ext cx="1676276" cy="40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18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Semelhantes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90963" y="9449210"/>
            <a:ext cx="1382706" cy="40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18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Diferentes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01209" y="8544668"/>
            <a:ext cx="169821" cy="4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29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Σ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21227" y="8943280"/>
            <a:ext cx="246097" cy="42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189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→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49704" y="9351416"/>
            <a:ext cx="246097" cy="46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1899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→</a:t>
            </a:r>
          </a:p>
        </p:txBody>
      </p:sp>
      <p:sp>
        <p:nvSpPr>
          <p:cNvPr name="TextBox 15" id="15"/>
          <p:cNvSpPr txBox="true"/>
          <p:nvPr/>
        </p:nvSpPr>
        <p:spPr>
          <a:xfrm rot="-5404440">
            <a:off x="14899767" y="9283226"/>
            <a:ext cx="65780" cy="25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148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(</a:t>
            </a:r>
          </a:p>
        </p:txBody>
      </p:sp>
      <p:sp>
        <p:nvSpPr>
          <p:cNvPr name="TextBox 16" id="16"/>
          <p:cNvSpPr txBox="true"/>
          <p:nvPr/>
        </p:nvSpPr>
        <p:spPr>
          <a:xfrm rot="5400000">
            <a:off x="14977090" y="9698184"/>
            <a:ext cx="65780" cy="25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148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(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9907" y="9765211"/>
            <a:ext cx="9523057" cy="53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5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3" tooltip="https://pyimagesearch.com/2020/11/30/siamese-networks-with-keras-tensorflow-and-deep-learning/"/>
              </a:rPr>
              <a:t>https://pyimagesearch.com/2020/11/30/siamese-networks-with-keras-tensorflow-and-deep- learning/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76692" y="8605456"/>
            <a:ext cx="1273597" cy="39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d(x, y)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67696" y="8605456"/>
            <a:ext cx="1140123" cy="4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(xᵢ - yᵢ)²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25314" y="8480917"/>
            <a:ext cx="383419" cy="46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√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643988" y="1959369"/>
            <a:ext cx="13000034" cy="7362425"/>
            <a:chOff x="0" y="0"/>
            <a:chExt cx="13000038" cy="73624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872974" cy="7228713"/>
            </a:xfrm>
            <a:custGeom>
              <a:avLst/>
              <a:gdLst/>
              <a:ahLst/>
              <a:cxnLst/>
              <a:rect r="r" b="b" t="t" l="l"/>
              <a:pathLst>
                <a:path h="7228713" w="12872974">
                  <a:moveTo>
                    <a:pt x="0" y="0"/>
                  </a:moveTo>
                  <a:lnTo>
                    <a:pt x="12872974" y="0"/>
                  </a:lnTo>
                  <a:lnTo>
                    <a:pt x="12872974" y="7228713"/>
                  </a:lnTo>
                  <a:lnTo>
                    <a:pt x="0" y="7228713"/>
                  </a:lnTo>
                  <a:close/>
                </a:path>
              </a:pathLst>
            </a:custGeom>
            <a:solidFill>
              <a:srgbClr val="B5B5B5">
                <a:alpha val="470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1524" y="3529202"/>
              <a:ext cx="192914" cy="294132"/>
            </a:xfrm>
            <a:custGeom>
              <a:avLst/>
              <a:gdLst/>
              <a:ahLst/>
              <a:cxnLst/>
              <a:rect r="r" b="b" t="t" l="l"/>
              <a:pathLst>
                <a:path h="294132" w="192914">
                  <a:moveTo>
                    <a:pt x="117475" y="293879"/>
                  </a:moveTo>
                  <a:cubicBezTo>
                    <a:pt x="107950" y="291847"/>
                    <a:pt x="98679" y="288926"/>
                    <a:pt x="89789" y="284989"/>
                  </a:cubicBezTo>
                  <a:cubicBezTo>
                    <a:pt x="80899" y="281052"/>
                    <a:pt x="72390" y="276480"/>
                    <a:pt x="64262" y="270892"/>
                  </a:cubicBezTo>
                  <a:cubicBezTo>
                    <a:pt x="56134" y="265304"/>
                    <a:pt x="48768" y="259081"/>
                    <a:pt x="42037" y="252096"/>
                  </a:cubicBezTo>
                  <a:cubicBezTo>
                    <a:pt x="35306" y="245111"/>
                    <a:pt x="29210" y="237491"/>
                    <a:pt x="23876" y="229363"/>
                  </a:cubicBezTo>
                  <a:cubicBezTo>
                    <a:pt x="18542" y="221235"/>
                    <a:pt x="14097" y="212599"/>
                    <a:pt x="10541" y="203455"/>
                  </a:cubicBezTo>
                  <a:cubicBezTo>
                    <a:pt x="6985" y="194311"/>
                    <a:pt x="4191" y="185040"/>
                    <a:pt x="2540" y="175515"/>
                  </a:cubicBezTo>
                  <a:cubicBezTo>
                    <a:pt x="889" y="165990"/>
                    <a:pt x="0" y="156211"/>
                    <a:pt x="127" y="146559"/>
                  </a:cubicBezTo>
                  <a:cubicBezTo>
                    <a:pt x="254" y="136906"/>
                    <a:pt x="1397" y="127128"/>
                    <a:pt x="3429" y="117603"/>
                  </a:cubicBezTo>
                  <a:cubicBezTo>
                    <a:pt x="5461" y="108078"/>
                    <a:pt x="8382" y="98806"/>
                    <a:pt x="12319" y="89917"/>
                  </a:cubicBezTo>
                  <a:cubicBezTo>
                    <a:pt x="16256" y="81027"/>
                    <a:pt x="20829" y="72518"/>
                    <a:pt x="26416" y="64390"/>
                  </a:cubicBezTo>
                  <a:cubicBezTo>
                    <a:pt x="32004" y="56261"/>
                    <a:pt x="38227" y="48895"/>
                    <a:pt x="45212" y="42165"/>
                  </a:cubicBezTo>
                  <a:cubicBezTo>
                    <a:pt x="52198" y="35434"/>
                    <a:pt x="59817" y="29337"/>
                    <a:pt x="67945" y="24004"/>
                  </a:cubicBezTo>
                  <a:cubicBezTo>
                    <a:pt x="76074" y="18670"/>
                    <a:pt x="84709" y="14225"/>
                    <a:pt x="93854" y="10669"/>
                  </a:cubicBezTo>
                  <a:cubicBezTo>
                    <a:pt x="102998" y="7113"/>
                    <a:pt x="112269" y="4319"/>
                    <a:pt x="121794" y="2541"/>
                  </a:cubicBezTo>
                  <a:cubicBezTo>
                    <a:pt x="131319" y="762"/>
                    <a:pt x="141098" y="0"/>
                    <a:pt x="150750" y="128"/>
                  </a:cubicBezTo>
                  <a:cubicBezTo>
                    <a:pt x="160402" y="255"/>
                    <a:pt x="170181" y="1398"/>
                    <a:pt x="179706" y="3430"/>
                  </a:cubicBezTo>
                  <a:cubicBezTo>
                    <a:pt x="181865" y="3938"/>
                    <a:pt x="183770" y="4700"/>
                    <a:pt x="185675" y="5970"/>
                  </a:cubicBezTo>
                  <a:cubicBezTo>
                    <a:pt x="187579" y="7240"/>
                    <a:pt x="188977" y="8764"/>
                    <a:pt x="190119" y="10542"/>
                  </a:cubicBezTo>
                  <a:cubicBezTo>
                    <a:pt x="191262" y="12319"/>
                    <a:pt x="192151" y="14351"/>
                    <a:pt x="192532" y="16511"/>
                  </a:cubicBezTo>
                  <a:cubicBezTo>
                    <a:pt x="192914" y="18670"/>
                    <a:pt x="192914" y="20829"/>
                    <a:pt x="192405" y="22988"/>
                  </a:cubicBezTo>
                  <a:cubicBezTo>
                    <a:pt x="191897" y="25147"/>
                    <a:pt x="191136" y="27052"/>
                    <a:pt x="189865" y="28957"/>
                  </a:cubicBezTo>
                  <a:cubicBezTo>
                    <a:pt x="188595" y="30862"/>
                    <a:pt x="187071" y="32259"/>
                    <a:pt x="185293" y="33402"/>
                  </a:cubicBezTo>
                  <a:cubicBezTo>
                    <a:pt x="183515" y="34545"/>
                    <a:pt x="181483" y="35434"/>
                    <a:pt x="179325" y="35815"/>
                  </a:cubicBezTo>
                  <a:cubicBezTo>
                    <a:pt x="177166" y="36196"/>
                    <a:pt x="175006" y="36196"/>
                    <a:pt x="172848" y="35688"/>
                  </a:cubicBezTo>
                  <a:cubicBezTo>
                    <a:pt x="165481" y="34164"/>
                    <a:pt x="157989" y="33275"/>
                    <a:pt x="150369" y="33148"/>
                  </a:cubicBezTo>
                  <a:cubicBezTo>
                    <a:pt x="142749" y="33020"/>
                    <a:pt x="135256" y="33656"/>
                    <a:pt x="127763" y="35053"/>
                  </a:cubicBezTo>
                  <a:cubicBezTo>
                    <a:pt x="120270" y="36449"/>
                    <a:pt x="113031" y="38481"/>
                    <a:pt x="106046" y="41275"/>
                  </a:cubicBezTo>
                  <a:cubicBezTo>
                    <a:pt x="99061" y="44069"/>
                    <a:pt x="92330" y="47498"/>
                    <a:pt x="85980" y="51690"/>
                  </a:cubicBezTo>
                  <a:cubicBezTo>
                    <a:pt x="79630" y="55881"/>
                    <a:pt x="73661" y="60580"/>
                    <a:pt x="68327" y="65786"/>
                  </a:cubicBezTo>
                  <a:cubicBezTo>
                    <a:pt x="62993" y="70993"/>
                    <a:pt x="58040" y="76835"/>
                    <a:pt x="53722" y="83058"/>
                  </a:cubicBezTo>
                  <a:cubicBezTo>
                    <a:pt x="49404" y="89281"/>
                    <a:pt x="45721" y="95885"/>
                    <a:pt x="42800" y="102870"/>
                  </a:cubicBezTo>
                  <a:cubicBezTo>
                    <a:pt x="39879" y="109855"/>
                    <a:pt x="37466" y="116967"/>
                    <a:pt x="35942" y="124460"/>
                  </a:cubicBezTo>
                  <a:cubicBezTo>
                    <a:pt x="34418" y="131954"/>
                    <a:pt x="33529" y="139319"/>
                    <a:pt x="33402" y="146939"/>
                  </a:cubicBezTo>
                  <a:cubicBezTo>
                    <a:pt x="33275" y="154559"/>
                    <a:pt x="33910" y="162052"/>
                    <a:pt x="35307" y="169545"/>
                  </a:cubicBezTo>
                  <a:cubicBezTo>
                    <a:pt x="36704" y="177038"/>
                    <a:pt x="38736" y="184277"/>
                    <a:pt x="41530" y="191262"/>
                  </a:cubicBezTo>
                  <a:cubicBezTo>
                    <a:pt x="44324" y="198247"/>
                    <a:pt x="47752" y="204978"/>
                    <a:pt x="51944" y="211328"/>
                  </a:cubicBezTo>
                  <a:cubicBezTo>
                    <a:pt x="56135" y="217678"/>
                    <a:pt x="60834" y="223647"/>
                    <a:pt x="66040" y="228981"/>
                  </a:cubicBezTo>
                  <a:cubicBezTo>
                    <a:pt x="71247" y="234315"/>
                    <a:pt x="77089" y="239268"/>
                    <a:pt x="83312" y="243586"/>
                  </a:cubicBezTo>
                  <a:cubicBezTo>
                    <a:pt x="89535" y="247904"/>
                    <a:pt x="96139" y="251587"/>
                    <a:pt x="103124" y="254508"/>
                  </a:cubicBezTo>
                  <a:cubicBezTo>
                    <a:pt x="110109" y="257428"/>
                    <a:pt x="117221" y="259842"/>
                    <a:pt x="124714" y="261366"/>
                  </a:cubicBezTo>
                  <a:cubicBezTo>
                    <a:pt x="126874" y="261874"/>
                    <a:pt x="128779" y="262636"/>
                    <a:pt x="130683" y="263906"/>
                  </a:cubicBezTo>
                  <a:cubicBezTo>
                    <a:pt x="132588" y="265176"/>
                    <a:pt x="133986" y="266700"/>
                    <a:pt x="135129" y="268478"/>
                  </a:cubicBezTo>
                  <a:cubicBezTo>
                    <a:pt x="136271" y="270256"/>
                    <a:pt x="137161" y="272288"/>
                    <a:pt x="137542" y="274447"/>
                  </a:cubicBezTo>
                  <a:cubicBezTo>
                    <a:pt x="137923" y="276606"/>
                    <a:pt x="137923" y="278765"/>
                    <a:pt x="137414" y="280924"/>
                  </a:cubicBezTo>
                  <a:cubicBezTo>
                    <a:pt x="136906" y="283083"/>
                    <a:pt x="136144" y="284988"/>
                    <a:pt x="134874" y="286893"/>
                  </a:cubicBezTo>
                  <a:cubicBezTo>
                    <a:pt x="133604" y="288798"/>
                    <a:pt x="132080" y="290195"/>
                    <a:pt x="130302" y="291338"/>
                  </a:cubicBezTo>
                  <a:cubicBezTo>
                    <a:pt x="128525" y="292481"/>
                    <a:pt x="126493" y="293370"/>
                    <a:pt x="124333" y="293751"/>
                  </a:cubicBezTo>
                  <a:cubicBezTo>
                    <a:pt x="122174" y="294132"/>
                    <a:pt x="120015" y="294132"/>
                    <a:pt x="117856" y="2936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2872974" cy="7235444"/>
            </a:xfrm>
            <a:custGeom>
              <a:avLst/>
              <a:gdLst/>
              <a:ahLst/>
              <a:cxnLst/>
              <a:rect r="r" b="b" t="t" l="l"/>
              <a:pathLst>
                <a:path h="7235444" w="12872974">
                  <a:moveTo>
                    <a:pt x="0" y="7235444"/>
                  </a:moveTo>
                  <a:lnTo>
                    <a:pt x="12872974" y="7235444"/>
                  </a:lnTo>
                  <a:lnTo>
                    <a:pt x="128729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31165" y="499472"/>
            <a:ext cx="10088251" cy="91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Rede Neural Siamesa (SNN)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7907" y="4416762"/>
            <a:ext cx="13199535" cy="126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b="true" sz="7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Treinamento e otimização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5517" y="3930044"/>
            <a:ext cx="6353175" cy="6353175"/>
          </a:xfrm>
          <a:custGeom>
            <a:avLst/>
            <a:gdLst/>
            <a:ahLst/>
            <a:cxnLst/>
            <a:rect r="r" b="b" t="t" l="l"/>
            <a:pathLst>
              <a:path h="6353175" w="6353175">
                <a:moveTo>
                  <a:pt x="0" y="0"/>
                </a:moveTo>
                <a:lnTo>
                  <a:pt x="6353175" y="0"/>
                </a:lnTo>
                <a:lnTo>
                  <a:pt x="6353175" y="6353175"/>
                </a:lnTo>
                <a:lnTo>
                  <a:pt x="0" y="6353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85775" y="2514400"/>
            <a:ext cx="161925" cy="161925"/>
            <a:chOff x="0" y="0"/>
            <a:chExt cx="161925" cy="1619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85775" y="3228775"/>
            <a:ext cx="161925" cy="161925"/>
            <a:chOff x="0" y="0"/>
            <a:chExt cx="161925" cy="161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16548" y="902456"/>
            <a:ext cx="16317925" cy="91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Treinamento é baseado em pares de entrada: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4814" y="2179701"/>
            <a:ext cx="12143642" cy="141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sz="405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Pares positivos (mesma classe/mesmoobjeto) Pares Negativos (classes diferfentes)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3129" y="3676050"/>
            <a:ext cx="15612770" cy="210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b="true" sz="39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Objetivo</a:t>
            </a: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O objetivo da função de perda em SNN é ensinar a rede a comparar, ajustando os pesos para que o modelo aprenda um mapa de distâncias confiável entre entradas.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44623" y="905542"/>
            <a:ext cx="5892546" cy="9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8"/>
              </a:lnSpc>
            </a:pPr>
            <a:r>
              <a:rPr lang="en-US" b="true" sz="56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Loss Function: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89484" y="3297555"/>
            <a:ext cx="161925" cy="161925"/>
            <a:chOff x="0" y="0"/>
            <a:chExt cx="161925" cy="16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89484" y="4002405"/>
            <a:ext cx="161925" cy="161925"/>
            <a:chOff x="0" y="0"/>
            <a:chExt cx="161925" cy="1619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89484" y="5412105"/>
            <a:ext cx="161925" cy="161925"/>
            <a:chOff x="0" y="0"/>
            <a:chExt cx="161925" cy="161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589484" y="7526655"/>
            <a:ext cx="161925" cy="161925"/>
            <a:chOff x="0" y="0"/>
            <a:chExt cx="161925" cy="161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76733" y="2978810"/>
            <a:ext cx="15252087" cy="562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Uma das mais comuns em SNNs. Trabalha com pares positivos (mesma classe) e pares negativos (classes diferentes). Objetivo: minimizar a distância entre embeddings de pares positivos e maximizar a distância entre embeddings de pares negativos, respeitando uma margem definida. Vantagem: intuitiva e diretamente voltada para medir similaridade.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15953"/>
            <a:ext cx="6026991" cy="8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Contrastive Loss: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04950" y="2945130"/>
            <a:ext cx="161925" cy="161925"/>
            <a:chOff x="0" y="0"/>
            <a:chExt cx="161925" cy="16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04950" y="4354830"/>
            <a:ext cx="161925" cy="161925"/>
            <a:chOff x="0" y="0"/>
            <a:chExt cx="161925" cy="1619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04950" y="6469380"/>
            <a:ext cx="161925" cy="161925"/>
            <a:chOff x="0" y="0"/>
            <a:chExt cx="161925" cy="161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92198" y="2626385"/>
            <a:ext cx="15550515" cy="491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Usa trios de exemplos: âncora, positivo (mesma classe da âncora) e negativo (classe diferente). Objetivo: garantir que a distância entre âncora e positivo seja sempre menor que a distância entre âncora e negativo, dentro de uma margem. Vantagem: mais robusta em problemas com grande variabilidade intra-classe.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5953"/>
            <a:ext cx="4425944" cy="8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Triplet Loss: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04950" y="2945130"/>
            <a:ext cx="161925" cy="161925"/>
            <a:chOff x="0" y="0"/>
            <a:chExt cx="161925" cy="16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04950" y="5059680"/>
            <a:ext cx="161925" cy="161925"/>
            <a:chOff x="0" y="0"/>
            <a:chExt cx="161925" cy="1619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04950" y="6469380"/>
            <a:ext cx="161925" cy="161925"/>
            <a:chOff x="0" y="0"/>
            <a:chExt cx="161925" cy="161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92198" y="2626385"/>
            <a:ext cx="15274423" cy="491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Trata a tarefa como um problema de classificação binária: o modelo prevê a probabilidade de dois inputs pertencerem à mesma classe. Muito usada quando a saída da rede é uma camada sigmoidal que indica "similar" (1) ou "não similar" (0). Pode ser combinada com regularização L2 ou dropout para reduzir overfitting.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5953"/>
            <a:ext cx="11950246" cy="8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Binary Cross-Entropy Loss (BCE):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04950" y="2587466"/>
            <a:ext cx="161925" cy="161925"/>
            <a:chOff x="0" y="0"/>
            <a:chExt cx="161925" cy="16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504950" y="3292316"/>
            <a:ext cx="161925" cy="161925"/>
            <a:chOff x="0" y="0"/>
            <a:chExt cx="161925" cy="1619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04950" y="3997166"/>
            <a:ext cx="161925" cy="161925"/>
            <a:chOff x="0" y="0"/>
            <a:chExt cx="161925" cy="161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92198" y="2611631"/>
            <a:ext cx="12544959" cy="33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Contrastive Loss : foca em pares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2198" y="2640206"/>
            <a:ext cx="14598842" cy="101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Triplet Loss:foca em trios, mais discriminativa.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2198" y="3640331"/>
            <a:ext cx="14598842" cy="142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1"/>
              </a:lnSpc>
            </a:pPr>
            <a:r>
              <a:rPr lang="en-US" sz="384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Binary Cross-Entropy: foca em probabilidade, próxima da classificação binária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8482" y="1135028"/>
            <a:ext cx="4336361" cy="67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Em resumo: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725806"/>
            <a:ext cx="137817" cy="52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b="true" sz="39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04950" y="2584447"/>
            <a:ext cx="161925" cy="161925"/>
            <a:chOff x="0" y="0"/>
            <a:chExt cx="161925" cy="16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92198" y="2389537"/>
            <a:ext cx="15292502" cy="328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Durante o treino, os pesos da rede são ajustados por backpropagation e algoritmos de otimização (ex.: Adam, SGD). O objetivo é minimizar a perda, ou seja, melhorar a capacidade da rede em mapear pares semelhantes próximos e pares diferentes distantes no espaço de embeddings.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4316" y="915953"/>
            <a:ext cx="4295280" cy="8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Otimização: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500855" y="86810"/>
          <a:ext cx="3771900" cy="2514600"/>
        </p:xfrm>
        <a:graphic>
          <a:graphicData uri="http://schemas.openxmlformats.org/presentationml/2006/ole">
            <p:oleObj imgW="4521200" imgH="326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77292" y="2501970"/>
            <a:ext cx="161925" cy="161925"/>
            <a:chOff x="0" y="0"/>
            <a:chExt cx="161925" cy="161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" cy="161925"/>
            </a:xfrm>
            <a:custGeom>
              <a:avLst/>
              <a:gdLst/>
              <a:ahLst/>
              <a:cxnLst/>
              <a:rect r="r" b="b" t="t" l="l"/>
              <a:pathLst>
                <a:path h="161925" w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0899" y="0"/>
                  </a:cubicBezTo>
                  <a:cubicBezTo>
                    <a:pt x="86106" y="0"/>
                    <a:pt x="91440" y="508"/>
                    <a:pt x="96647" y="1524"/>
                  </a:cubicBezTo>
                  <a:cubicBezTo>
                    <a:pt x="101854" y="2540"/>
                    <a:pt x="106934" y="4064"/>
                    <a:pt x="111887" y="6096"/>
                  </a:cubicBezTo>
                  <a:cubicBezTo>
                    <a:pt x="116840" y="8128"/>
                    <a:pt x="121412" y="10668"/>
                    <a:pt x="125857" y="13589"/>
                  </a:cubicBezTo>
                  <a:cubicBezTo>
                    <a:pt x="130302" y="16510"/>
                    <a:pt x="134366" y="19939"/>
                    <a:pt x="138176" y="23622"/>
                  </a:cubicBezTo>
                  <a:cubicBezTo>
                    <a:pt x="141986" y="27305"/>
                    <a:pt x="145288" y="31496"/>
                    <a:pt x="148209" y="35941"/>
                  </a:cubicBezTo>
                  <a:cubicBezTo>
                    <a:pt x="151130" y="40386"/>
                    <a:pt x="153670" y="45085"/>
                    <a:pt x="155702" y="49911"/>
                  </a:cubicBezTo>
                  <a:cubicBezTo>
                    <a:pt x="157734" y="54737"/>
                    <a:pt x="159258" y="59944"/>
                    <a:pt x="160274" y="65151"/>
                  </a:cubicBezTo>
                  <a:cubicBezTo>
                    <a:pt x="161290" y="70358"/>
                    <a:pt x="161798" y="75692"/>
                    <a:pt x="161798" y="80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64541" y="2183225"/>
            <a:ext cx="14007074" cy="28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51"/>
              </a:lnSpc>
            </a:pPr>
            <a:r>
              <a:rPr lang="en-US" sz="3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Depois de treinada, a SNN consegue comparar novas classes nunca vistas, porque ela não aprendeu rótulos diretamente, mas sim a medir similaridade entre representações.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3695" y="915953"/>
            <a:ext cx="5243646" cy="8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Generalização: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5350" y="4389520"/>
            <a:ext cx="13369871" cy="132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</a:pPr>
            <a:r>
              <a:rPr lang="en-US" b="true" sz="75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Vantagens e desvantagens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365" y="597284"/>
            <a:ext cx="17026680" cy="9572673"/>
          </a:xfrm>
          <a:custGeom>
            <a:avLst/>
            <a:gdLst/>
            <a:ahLst/>
            <a:cxnLst/>
            <a:rect r="r" b="b" t="t" l="l"/>
            <a:pathLst>
              <a:path h="9572673" w="17026680">
                <a:moveTo>
                  <a:pt x="0" y="0"/>
                </a:moveTo>
                <a:lnTo>
                  <a:pt x="17026681" y="0"/>
                </a:lnTo>
                <a:lnTo>
                  <a:pt x="17026681" y="9572673"/>
                </a:lnTo>
                <a:lnTo>
                  <a:pt x="0" y="9572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4338" y="1164650"/>
            <a:ext cx="204958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BF6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Vantagens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33907" y="1126550"/>
            <a:ext cx="2836193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000">
                <a:solidFill>
                  <a:srgbClr val="E70D0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Desvantagens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800" y="4134050"/>
            <a:ext cx="7519968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Precisam de poucos dados por classe (one-shot, few-shot)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0800" y="8852183"/>
            <a:ext cx="7774286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Menor necessidade de re-treinar quando surgem novas classes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800" y="2561339"/>
            <a:ext cx="7644013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Generalizam para novas classes sem precisar re- treinar totalmente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0800" y="5706761"/>
            <a:ext cx="7785783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Embeddings podem ser reutilizados para busca e verificação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0800" y="7279472"/>
            <a:ext cx="7792936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Funcionam em diversos tipos de dados (imagem, texto, áudio, biometria)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5980" y="5706761"/>
            <a:ext cx="5958335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É necessário definir um threshold de similaridade (pode variar por dataset)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95980" y="7279472"/>
            <a:ext cx="6429032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Dependem fortemente da qualidade dos embeddings aprendidos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95980" y="2561339"/>
            <a:ext cx="6607483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Exigem muitos pares positivos/negativos treinamento pode ser caro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95980" y="8852183"/>
            <a:ext cx="6566754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Comparação par-a-par pode ser lenta em sistemas de grande escala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95980" y="4134050"/>
            <a:ext cx="7761227" cy="8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Número de pares cresce muito em bases grandes (problema de escalabilidade)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73904" y="2533726"/>
            <a:ext cx="310896" cy="46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→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6847" y="4416762"/>
            <a:ext cx="12009977" cy="126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19"/>
              </a:lnSpc>
            </a:pPr>
            <a:r>
              <a:rPr lang="en-US" b="true" sz="72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Exemplo(s) de aplicação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4365" y="7714688"/>
            <a:ext cx="2465089" cy="2465089"/>
          </a:xfrm>
          <a:custGeom>
            <a:avLst/>
            <a:gdLst/>
            <a:ahLst/>
            <a:cxnLst/>
            <a:rect r="r" b="b" t="t" l="l"/>
            <a:pathLst>
              <a:path h="2465089" w="2465089">
                <a:moveTo>
                  <a:pt x="0" y="0"/>
                </a:moveTo>
                <a:lnTo>
                  <a:pt x="2465089" y="0"/>
                </a:lnTo>
                <a:lnTo>
                  <a:pt x="2465089" y="2465089"/>
                </a:lnTo>
                <a:lnTo>
                  <a:pt x="0" y="2465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24583" y="0"/>
            <a:ext cx="5162550" cy="10287000"/>
          </a:xfrm>
          <a:custGeom>
            <a:avLst/>
            <a:gdLst/>
            <a:ahLst/>
            <a:cxnLst/>
            <a:rect r="r" b="b" t="t" l="l"/>
            <a:pathLst>
              <a:path h="10287000" w="5162550">
                <a:moveTo>
                  <a:pt x="0" y="0"/>
                </a:moveTo>
                <a:lnTo>
                  <a:pt x="5162550" y="0"/>
                </a:lnTo>
                <a:lnTo>
                  <a:pt x="51625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3081" y="640632"/>
            <a:ext cx="9191625" cy="6962775"/>
          </a:xfrm>
          <a:custGeom>
            <a:avLst/>
            <a:gdLst/>
            <a:ahLst/>
            <a:cxnLst/>
            <a:rect r="r" b="b" t="t" l="l"/>
            <a:pathLst>
              <a:path h="6962775" w="9191625">
                <a:moveTo>
                  <a:pt x="0" y="0"/>
                </a:moveTo>
                <a:lnTo>
                  <a:pt x="9191625" y="0"/>
                </a:lnTo>
                <a:lnTo>
                  <a:pt x="9191625" y="6962775"/>
                </a:lnTo>
                <a:lnTo>
                  <a:pt x="0" y="6962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932631" y="7895663"/>
            <a:ext cx="76200" cy="76200"/>
            <a:chOff x="0" y="0"/>
            <a:chExt cx="76200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787868" y="7778191"/>
            <a:ext cx="2338083" cy="2338083"/>
            <a:chOff x="0" y="0"/>
            <a:chExt cx="2338083" cy="23380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8070" cy="2338070"/>
            </a:xfrm>
            <a:custGeom>
              <a:avLst/>
              <a:gdLst/>
              <a:ahLst/>
              <a:cxnLst/>
              <a:rect r="r" b="b" t="t" l="l"/>
              <a:pathLst>
                <a:path h="2338070" w="2338070">
                  <a:moveTo>
                    <a:pt x="0" y="2338070"/>
                  </a:moveTo>
                  <a:lnTo>
                    <a:pt x="2338070" y="2338070"/>
                  </a:lnTo>
                  <a:lnTo>
                    <a:pt x="23380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54839" y="7736338"/>
            <a:ext cx="6008818" cy="2097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contrastive loss cai de forma estável em treino e validação, indicando que o modelo aproxima positivos e afasta negativos além da margem. A curva de validação levemente abaixo da de treino sugere boa generalização, sem sinais de overfitting.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197647" y="2299745"/>
            <a:ext cx="133350" cy="133350"/>
            <a:chOff x="0" y="0"/>
            <a:chExt cx="133350" cy="133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197647" y="3214145"/>
            <a:ext cx="133350" cy="133350"/>
            <a:chOff x="0" y="0"/>
            <a:chExt cx="133350" cy="133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197647" y="4128545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197647" y="5042945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3197647" y="5957345"/>
            <a:ext cx="133350" cy="133350"/>
            <a:chOff x="0" y="0"/>
            <a:chExt cx="133350" cy="13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3197647" y="6871745"/>
            <a:ext cx="133350" cy="133350"/>
            <a:chOff x="0" y="0"/>
            <a:chExt cx="133350" cy="133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197647" y="7786145"/>
            <a:ext cx="133350" cy="133350"/>
            <a:chOff x="0" y="0"/>
            <a:chExt cx="133350" cy="133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533699" y="2125437"/>
            <a:ext cx="4546616" cy="139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Conv32 (3×3, ReLU) dígitos. MaxPool (2×2)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91142" y="1943214"/>
            <a:ext cx="7040470" cy="70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→ capta bordas/traços finos 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52015" y="2857614"/>
            <a:ext cx="7969234" cy="70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→ reduz resolução, mantém o que 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3699" y="3497047"/>
            <a:ext cx="2990269" cy="47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mais saliente.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33699" y="3954247"/>
            <a:ext cx="5400846" cy="93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Conv64 (3×3, ReLU) maiores (curvas, cantos).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89427" y="3772024"/>
            <a:ext cx="6298682" cy="70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→ combina traços em partes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33699" y="4868647"/>
            <a:ext cx="3282706" cy="47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MaxPool (2×2)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52015" y="4686424"/>
            <a:ext cx="7893825" cy="70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→ nova redução + invariância leve 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33699" y="5325847"/>
            <a:ext cx="3424352" cy="47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deslocamentos.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33699" y="5783047"/>
            <a:ext cx="12014578" cy="185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Conv128 (3×3, ReLU) do dígito. GAP (Global Average Pooling) 1 vetor por canal, reduz parâmetros e evita overfitting.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77441" y="5600824"/>
            <a:ext cx="7436253" cy="162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→ captura padrões mais abstratos → transforma mapas 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33699" y="7611847"/>
            <a:ext cx="2316909" cy="47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Dense(64)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05145" y="7429624"/>
            <a:ext cx="7857220" cy="70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→ comprime tudo num vetor de 64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33699" y="8069047"/>
            <a:ext cx="5577364" cy="47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36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dimensões = embedding.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46603" y="8440445"/>
            <a:ext cx="49397" cy="32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12399" y="933507"/>
            <a:ext cx="12349734" cy="85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9"/>
              </a:lnSpc>
            </a:pPr>
            <a:r>
              <a:rPr lang="en-US" b="true" sz="49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Pipeline da CNN (camada a camada)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06985" y="8516645"/>
            <a:ext cx="3533356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Aredecomeçaaprendendo detalhes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92113" y="8769315"/>
            <a:ext cx="1633928" cy="24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9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simples (bordas)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93989" y="8805996"/>
            <a:ext cx="1521971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→ depois partes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49965" y="8898160"/>
            <a:ext cx="2363800" cy="3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maiores (curvas, cantos)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67416" y="9058666"/>
            <a:ext cx="87805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→ depois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86199" y="9150829"/>
            <a:ext cx="3436249" cy="37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padrões abstratos (forma do dígito)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455058" y="9311335"/>
            <a:ext cx="343691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→ 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131442" y="9403499"/>
            <a:ext cx="3687470" cy="87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finalmente comprime tudo em um</a:t>
            </a:r>
          </a:p>
          <a:p>
            <a:pPr algn="ctr">
              <a:lnSpc>
                <a:spcPts val="716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vetor de 64 dimensões que representa</a:t>
            </a:r>
          </a:p>
          <a:p>
            <a:pPr algn="ctr">
              <a:lnSpc>
                <a:spcPts val="3262"/>
              </a:lnSpc>
            </a:pPr>
            <a:r>
              <a:rPr lang="en-US" b="true" sz="1433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aquele dígito.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5416" y="2011204"/>
            <a:ext cx="14220825" cy="3057525"/>
          </a:xfrm>
          <a:custGeom>
            <a:avLst/>
            <a:gdLst/>
            <a:ahLst/>
            <a:cxnLst/>
            <a:rect r="r" b="b" t="t" l="l"/>
            <a:pathLst>
              <a:path h="3057525" w="14220825">
                <a:moveTo>
                  <a:pt x="0" y="0"/>
                </a:moveTo>
                <a:lnTo>
                  <a:pt x="14220825" y="0"/>
                </a:lnTo>
                <a:lnTo>
                  <a:pt x="142208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4930473" y="5211185"/>
            <a:ext cx="107594" cy="107594"/>
            <a:chOff x="0" y="0"/>
            <a:chExt cx="107594" cy="1075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569" cy="107569"/>
            </a:xfrm>
            <a:custGeom>
              <a:avLst/>
              <a:gdLst/>
              <a:ahLst/>
              <a:cxnLst/>
              <a:rect r="r" b="b" t="t" l="l"/>
              <a:pathLst>
                <a:path h="107569" w="107569">
                  <a:moveTo>
                    <a:pt x="107569" y="53848"/>
                  </a:moveTo>
                  <a:cubicBezTo>
                    <a:pt x="107569" y="57404"/>
                    <a:pt x="107188" y="60833"/>
                    <a:pt x="106553" y="64389"/>
                  </a:cubicBezTo>
                  <a:cubicBezTo>
                    <a:pt x="105918" y="67945"/>
                    <a:pt x="104902" y="71247"/>
                    <a:pt x="103505" y="74422"/>
                  </a:cubicBezTo>
                  <a:cubicBezTo>
                    <a:pt x="102108" y="77597"/>
                    <a:pt x="100457" y="80772"/>
                    <a:pt x="98552" y="83693"/>
                  </a:cubicBezTo>
                  <a:cubicBezTo>
                    <a:pt x="96647" y="86614"/>
                    <a:pt x="94361" y="89408"/>
                    <a:pt x="91821" y="91821"/>
                  </a:cubicBezTo>
                  <a:cubicBezTo>
                    <a:pt x="89281" y="94234"/>
                    <a:pt x="86614" y="96520"/>
                    <a:pt x="83693" y="98552"/>
                  </a:cubicBezTo>
                  <a:cubicBezTo>
                    <a:pt x="80772" y="100584"/>
                    <a:pt x="77597" y="102235"/>
                    <a:pt x="74422" y="103505"/>
                  </a:cubicBezTo>
                  <a:cubicBezTo>
                    <a:pt x="71247" y="104775"/>
                    <a:pt x="67818" y="105918"/>
                    <a:pt x="64389" y="106553"/>
                  </a:cubicBezTo>
                  <a:cubicBezTo>
                    <a:pt x="60960" y="107188"/>
                    <a:pt x="57404" y="107569"/>
                    <a:pt x="53848" y="107569"/>
                  </a:cubicBezTo>
                  <a:cubicBezTo>
                    <a:pt x="50292" y="107569"/>
                    <a:pt x="46863" y="107188"/>
                    <a:pt x="43307" y="106553"/>
                  </a:cubicBezTo>
                  <a:cubicBezTo>
                    <a:pt x="39751" y="105918"/>
                    <a:pt x="36449" y="104902"/>
                    <a:pt x="33274" y="103505"/>
                  </a:cubicBezTo>
                  <a:cubicBezTo>
                    <a:pt x="30099" y="102108"/>
                    <a:pt x="26924" y="100457"/>
                    <a:pt x="24003" y="98552"/>
                  </a:cubicBezTo>
                  <a:cubicBezTo>
                    <a:pt x="21082" y="96647"/>
                    <a:pt x="18288" y="94361"/>
                    <a:pt x="15875" y="91821"/>
                  </a:cubicBezTo>
                  <a:cubicBezTo>
                    <a:pt x="13462" y="89281"/>
                    <a:pt x="11176" y="86614"/>
                    <a:pt x="9144" y="83693"/>
                  </a:cubicBezTo>
                  <a:cubicBezTo>
                    <a:pt x="7112" y="80772"/>
                    <a:pt x="5461" y="77597"/>
                    <a:pt x="4191" y="74422"/>
                  </a:cubicBezTo>
                  <a:cubicBezTo>
                    <a:pt x="2921" y="71247"/>
                    <a:pt x="1778" y="67818"/>
                    <a:pt x="1143" y="64389"/>
                  </a:cubicBezTo>
                  <a:cubicBezTo>
                    <a:pt x="508" y="60960"/>
                    <a:pt x="0" y="57277"/>
                    <a:pt x="0" y="53848"/>
                  </a:cubicBezTo>
                  <a:cubicBezTo>
                    <a:pt x="0" y="50419"/>
                    <a:pt x="381" y="46863"/>
                    <a:pt x="1016" y="43307"/>
                  </a:cubicBezTo>
                  <a:cubicBezTo>
                    <a:pt x="1651" y="39751"/>
                    <a:pt x="2667" y="36449"/>
                    <a:pt x="4064" y="33274"/>
                  </a:cubicBezTo>
                  <a:cubicBezTo>
                    <a:pt x="5461" y="30099"/>
                    <a:pt x="7112" y="26924"/>
                    <a:pt x="9017" y="24003"/>
                  </a:cubicBezTo>
                  <a:cubicBezTo>
                    <a:pt x="10922" y="21082"/>
                    <a:pt x="13208" y="18288"/>
                    <a:pt x="15748" y="15875"/>
                  </a:cubicBezTo>
                  <a:cubicBezTo>
                    <a:pt x="18288" y="13462"/>
                    <a:pt x="20955" y="11176"/>
                    <a:pt x="23876" y="9144"/>
                  </a:cubicBezTo>
                  <a:cubicBezTo>
                    <a:pt x="26797" y="7112"/>
                    <a:pt x="29972" y="5461"/>
                    <a:pt x="33147" y="4191"/>
                  </a:cubicBezTo>
                  <a:cubicBezTo>
                    <a:pt x="36322" y="2921"/>
                    <a:pt x="39751" y="1778"/>
                    <a:pt x="43180" y="1143"/>
                  </a:cubicBezTo>
                  <a:cubicBezTo>
                    <a:pt x="46609" y="508"/>
                    <a:pt x="50292" y="0"/>
                    <a:pt x="53848" y="0"/>
                  </a:cubicBezTo>
                  <a:cubicBezTo>
                    <a:pt x="57404" y="0"/>
                    <a:pt x="60833" y="381"/>
                    <a:pt x="64389" y="1016"/>
                  </a:cubicBezTo>
                  <a:cubicBezTo>
                    <a:pt x="67945" y="1651"/>
                    <a:pt x="71247" y="2667"/>
                    <a:pt x="74422" y="4064"/>
                  </a:cubicBezTo>
                  <a:cubicBezTo>
                    <a:pt x="77597" y="5461"/>
                    <a:pt x="80772" y="7112"/>
                    <a:pt x="83693" y="9017"/>
                  </a:cubicBezTo>
                  <a:cubicBezTo>
                    <a:pt x="86614" y="10922"/>
                    <a:pt x="89408" y="13208"/>
                    <a:pt x="91821" y="15748"/>
                  </a:cubicBezTo>
                  <a:cubicBezTo>
                    <a:pt x="94234" y="18288"/>
                    <a:pt x="96520" y="20955"/>
                    <a:pt x="98552" y="23876"/>
                  </a:cubicBezTo>
                  <a:cubicBezTo>
                    <a:pt x="100584" y="26797"/>
                    <a:pt x="102235" y="29972"/>
                    <a:pt x="103505" y="33147"/>
                  </a:cubicBezTo>
                  <a:cubicBezTo>
                    <a:pt x="104775" y="36322"/>
                    <a:pt x="105918" y="39751"/>
                    <a:pt x="106553" y="43180"/>
                  </a:cubicBezTo>
                  <a:cubicBezTo>
                    <a:pt x="107188" y="46609"/>
                    <a:pt x="107569" y="50165"/>
                    <a:pt x="107569" y="537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930473" y="6654203"/>
            <a:ext cx="107594" cy="107594"/>
            <a:chOff x="0" y="0"/>
            <a:chExt cx="107594" cy="1075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569" cy="107569"/>
            </a:xfrm>
            <a:custGeom>
              <a:avLst/>
              <a:gdLst/>
              <a:ahLst/>
              <a:cxnLst/>
              <a:rect r="r" b="b" t="t" l="l"/>
              <a:pathLst>
                <a:path h="107569" w="107569">
                  <a:moveTo>
                    <a:pt x="107569" y="53848"/>
                  </a:moveTo>
                  <a:cubicBezTo>
                    <a:pt x="107569" y="57404"/>
                    <a:pt x="107188" y="60833"/>
                    <a:pt x="106553" y="64389"/>
                  </a:cubicBezTo>
                  <a:cubicBezTo>
                    <a:pt x="105918" y="67945"/>
                    <a:pt x="104902" y="71247"/>
                    <a:pt x="103505" y="74422"/>
                  </a:cubicBezTo>
                  <a:cubicBezTo>
                    <a:pt x="102108" y="77597"/>
                    <a:pt x="100457" y="80772"/>
                    <a:pt x="98552" y="83693"/>
                  </a:cubicBezTo>
                  <a:cubicBezTo>
                    <a:pt x="96647" y="86614"/>
                    <a:pt x="94361" y="89408"/>
                    <a:pt x="91821" y="91821"/>
                  </a:cubicBezTo>
                  <a:cubicBezTo>
                    <a:pt x="89281" y="94234"/>
                    <a:pt x="86614" y="96520"/>
                    <a:pt x="83693" y="98552"/>
                  </a:cubicBezTo>
                  <a:cubicBezTo>
                    <a:pt x="80772" y="100584"/>
                    <a:pt x="77597" y="102235"/>
                    <a:pt x="74422" y="103505"/>
                  </a:cubicBezTo>
                  <a:cubicBezTo>
                    <a:pt x="71247" y="104775"/>
                    <a:pt x="67818" y="105918"/>
                    <a:pt x="64389" y="106553"/>
                  </a:cubicBezTo>
                  <a:cubicBezTo>
                    <a:pt x="60960" y="107188"/>
                    <a:pt x="57404" y="107569"/>
                    <a:pt x="53848" y="107569"/>
                  </a:cubicBezTo>
                  <a:cubicBezTo>
                    <a:pt x="50292" y="107569"/>
                    <a:pt x="46863" y="107188"/>
                    <a:pt x="43307" y="106553"/>
                  </a:cubicBezTo>
                  <a:cubicBezTo>
                    <a:pt x="39751" y="105918"/>
                    <a:pt x="36449" y="104902"/>
                    <a:pt x="33274" y="103505"/>
                  </a:cubicBezTo>
                  <a:cubicBezTo>
                    <a:pt x="30099" y="102108"/>
                    <a:pt x="26924" y="100457"/>
                    <a:pt x="24003" y="98552"/>
                  </a:cubicBezTo>
                  <a:cubicBezTo>
                    <a:pt x="21082" y="96647"/>
                    <a:pt x="18288" y="94361"/>
                    <a:pt x="15875" y="91821"/>
                  </a:cubicBezTo>
                  <a:cubicBezTo>
                    <a:pt x="13462" y="89281"/>
                    <a:pt x="11176" y="86614"/>
                    <a:pt x="9144" y="83693"/>
                  </a:cubicBezTo>
                  <a:cubicBezTo>
                    <a:pt x="7112" y="80772"/>
                    <a:pt x="5461" y="77597"/>
                    <a:pt x="4191" y="74422"/>
                  </a:cubicBezTo>
                  <a:cubicBezTo>
                    <a:pt x="2921" y="71247"/>
                    <a:pt x="1778" y="67818"/>
                    <a:pt x="1143" y="64389"/>
                  </a:cubicBezTo>
                  <a:cubicBezTo>
                    <a:pt x="508" y="60960"/>
                    <a:pt x="0" y="57277"/>
                    <a:pt x="0" y="53848"/>
                  </a:cubicBezTo>
                  <a:cubicBezTo>
                    <a:pt x="0" y="50419"/>
                    <a:pt x="381" y="46863"/>
                    <a:pt x="1016" y="43307"/>
                  </a:cubicBezTo>
                  <a:cubicBezTo>
                    <a:pt x="1651" y="39751"/>
                    <a:pt x="2667" y="36449"/>
                    <a:pt x="4064" y="33274"/>
                  </a:cubicBezTo>
                  <a:cubicBezTo>
                    <a:pt x="5461" y="30099"/>
                    <a:pt x="7112" y="26924"/>
                    <a:pt x="9017" y="24003"/>
                  </a:cubicBezTo>
                  <a:cubicBezTo>
                    <a:pt x="10922" y="21082"/>
                    <a:pt x="13208" y="18288"/>
                    <a:pt x="15748" y="15875"/>
                  </a:cubicBezTo>
                  <a:cubicBezTo>
                    <a:pt x="18288" y="13462"/>
                    <a:pt x="20955" y="11176"/>
                    <a:pt x="23876" y="9144"/>
                  </a:cubicBezTo>
                  <a:cubicBezTo>
                    <a:pt x="26797" y="7112"/>
                    <a:pt x="29972" y="5461"/>
                    <a:pt x="33147" y="4191"/>
                  </a:cubicBezTo>
                  <a:cubicBezTo>
                    <a:pt x="36322" y="2921"/>
                    <a:pt x="39751" y="1778"/>
                    <a:pt x="43180" y="1143"/>
                  </a:cubicBezTo>
                  <a:cubicBezTo>
                    <a:pt x="46609" y="508"/>
                    <a:pt x="50292" y="0"/>
                    <a:pt x="53848" y="0"/>
                  </a:cubicBezTo>
                  <a:cubicBezTo>
                    <a:pt x="57404" y="0"/>
                    <a:pt x="60833" y="381"/>
                    <a:pt x="64389" y="1016"/>
                  </a:cubicBezTo>
                  <a:cubicBezTo>
                    <a:pt x="67945" y="1651"/>
                    <a:pt x="71247" y="2667"/>
                    <a:pt x="74422" y="4064"/>
                  </a:cubicBezTo>
                  <a:cubicBezTo>
                    <a:pt x="77597" y="5461"/>
                    <a:pt x="80772" y="7112"/>
                    <a:pt x="83693" y="9017"/>
                  </a:cubicBezTo>
                  <a:cubicBezTo>
                    <a:pt x="86614" y="10922"/>
                    <a:pt x="89408" y="13208"/>
                    <a:pt x="91821" y="15748"/>
                  </a:cubicBezTo>
                  <a:cubicBezTo>
                    <a:pt x="94234" y="18288"/>
                    <a:pt x="96520" y="20955"/>
                    <a:pt x="98552" y="23876"/>
                  </a:cubicBezTo>
                  <a:cubicBezTo>
                    <a:pt x="100584" y="26797"/>
                    <a:pt x="102235" y="29972"/>
                    <a:pt x="103505" y="33147"/>
                  </a:cubicBezTo>
                  <a:cubicBezTo>
                    <a:pt x="104775" y="36322"/>
                    <a:pt x="105918" y="39751"/>
                    <a:pt x="106553" y="43180"/>
                  </a:cubicBezTo>
                  <a:cubicBezTo>
                    <a:pt x="107188" y="46609"/>
                    <a:pt x="107569" y="50165"/>
                    <a:pt x="107569" y="537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930473" y="8097212"/>
            <a:ext cx="107594" cy="107594"/>
            <a:chOff x="0" y="0"/>
            <a:chExt cx="107594" cy="1075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569" cy="107569"/>
            </a:xfrm>
            <a:custGeom>
              <a:avLst/>
              <a:gdLst/>
              <a:ahLst/>
              <a:cxnLst/>
              <a:rect r="r" b="b" t="t" l="l"/>
              <a:pathLst>
                <a:path h="107569" w="107569">
                  <a:moveTo>
                    <a:pt x="107569" y="53848"/>
                  </a:moveTo>
                  <a:cubicBezTo>
                    <a:pt x="107569" y="57404"/>
                    <a:pt x="107188" y="60833"/>
                    <a:pt x="106553" y="64389"/>
                  </a:cubicBezTo>
                  <a:cubicBezTo>
                    <a:pt x="105918" y="67945"/>
                    <a:pt x="104902" y="71247"/>
                    <a:pt x="103505" y="74422"/>
                  </a:cubicBezTo>
                  <a:cubicBezTo>
                    <a:pt x="102108" y="77597"/>
                    <a:pt x="100457" y="80772"/>
                    <a:pt x="98552" y="83693"/>
                  </a:cubicBezTo>
                  <a:cubicBezTo>
                    <a:pt x="96647" y="86614"/>
                    <a:pt x="94361" y="89408"/>
                    <a:pt x="91821" y="91821"/>
                  </a:cubicBezTo>
                  <a:cubicBezTo>
                    <a:pt x="89281" y="94234"/>
                    <a:pt x="86614" y="96520"/>
                    <a:pt x="83693" y="98552"/>
                  </a:cubicBezTo>
                  <a:cubicBezTo>
                    <a:pt x="80772" y="100584"/>
                    <a:pt x="77597" y="102235"/>
                    <a:pt x="74422" y="103505"/>
                  </a:cubicBezTo>
                  <a:cubicBezTo>
                    <a:pt x="71247" y="104775"/>
                    <a:pt x="67818" y="105918"/>
                    <a:pt x="64389" y="106553"/>
                  </a:cubicBezTo>
                  <a:cubicBezTo>
                    <a:pt x="60960" y="107188"/>
                    <a:pt x="57404" y="107569"/>
                    <a:pt x="53848" y="107569"/>
                  </a:cubicBezTo>
                  <a:cubicBezTo>
                    <a:pt x="50292" y="107569"/>
                    <a:pt x="46863" y="107188"/>
                    <a:pt x="43307" y="106553"/>
                  </a:cubicBezTo>
                  <a:cubicBezTo>
                    <a:pt x="39751" y="105918"/>
                    <a:pt x="36449" y="104902"/>
                    <a:pt x="33274" y="103505"/>
                  </a:cubicBezTo>
                  <a:cubicBezTo>
                    <a:pt x="30099" y="102108"/>
                    <a:pt x="26924" y="100457"/>
                    <a:pt x="24003" y="98552"/>
                  </a:cubicBezTo>
                  <a:cubicBezTo>
                    <a:pt x="21082" y="96647"/>
                    <a:pt x="18288" y="94361"/>
                    <a:pt x="15875" y="91821"/>
                  </a:cubicBezTo>
                  <a:cubicBezTo>
                    <a:pt x="13462" y="89281"/>
                    <a:pt x="11176" y="86614"/>
                    <a:pt x="9144" y="83693"/>
                  </a:cubicBezTo>
                  <a:cubicBezTo>
                    <a:pt x="7112" y="80772"/>
                    <a:pt x="5461" y="77597"/>
                    <a:pt x="4191" y="74422"/>
                  </a:cubicBezTo>
                  <a:cubicBezTo>
                    <a:pt x="2921" y="71247"/>
                    <a:pt x="1778" y="67818"/>
                    <a:pt x="1143" y="64389"/>
                  </a:cubicBezTo>
                  <a:cubicBezTo>
                    <a:pt x="508" y="60960"/>
                    <a:pt x="0" y="57277"/>
                    <a:pt x="0" y="53848"/>
                  </a:cubicBezTo>
                  <a:cubicBezTo>
                    <a:pt x="0" y="50419"/>
                    <a:pt x="381" y="46863"/>
                    <a:pt x="1016" y="43307"/>
                  </a:cubicBezTo>
                  <a:cubicBezTo>
                    <a:pt x="1651" y="39751"/>
                    <a:pt x="2667" y="36449"/>
                    <a:pt x="4064" y="33274"/>
                  </a:cubicBezTo>
                  <a:cubicBezTo>
                    <a:pt x="5461" y="30099"/>
                    <a:pt x="7112" y="26924"/>
                    <a:pt x="9017" y="24003"/>
                  </a:cubicBezTo>
                  <a:cubicBezTo>
                    <a:pt x="10922" y="21082"/>
                    <a:pt x="13208" y="18288"/>
                    <a:pt x="15748" y="15875"/>
                  </a:cubicBezTo>
                  <a:cubicBezTo>
                    <a:pt x="18288" y="13462"/>
                    <a:pt x="20955" y="11176"/>
                    <a:pt x="23876" y="9144"/>
                  </a:cubicBezTo>
                  <a:cubicBezTo>
                    <a:pt x="26797" y="7112"/>
                    <a:pt x="29972" y="5588"/>
                    <a:pt x="33147" y="4191"/>
                  </a:cubicBezTo>
                  <a:cubicBezTo>
                    <a:pt x="36322" y="2794"/>
                    <a:pt x="39751" y="1778"/>
                    <a:pt x="43180" y="1143"/>
                  </a:cubicBezTo>
                  <a:cubicBezTo>
                    <a:pt x="46609" y="508"/>
                    <a:pt x="50292" y="0"/>
                    <a:pt x="53848" y="0"/>
                  </a:cubicBezTo>
                  <a:cubicBezTo>
                    <a:pt x="57404" y="0"/>
                    <a:pt x="60833" y="381"/>
                    <a:pt x="64389" y="1016"/>
                  </a:cubicBezTo>
                  <a:cubicBezTo>
                    <a:pt x="67945" y="1651"/>
                    <a:pt x="71247" y="2667"/>
                    <a:pt x="74422" y="4064"/>
                  </a:cubicBezTo>
                  <a:cubicBezTo>
                    <a:pt x="77597" y="5461"/>
                    <a:pt x="80772" y="7112"/>
                    <a:pt x="83693" y="9017"/>
                  </a:cubicBezTo>
                  <a:cubicBezTo>
                    <a:pt x="86614" y="10922"/>
                    <a:pt x="89408" y="13208"/>
                    <a:pt x="91821" y="15748"/>
                  </a:cubicBezTo>
                  <a:cubicBezTo>
                    <a:pt x="94234" y="18288"/>
                    <a:pt x="96520" y="20955"/>
                    <a:pt x="98552" y="23876"/>
                  </a:cubicBezTo>
                  <a:cubicBezTo>
                    <a:pt x="100584" y="26797"/>
                    <a:pt x="102235" y="29972"/>
                    <a:pt x="103505" y="33147"/>
                  </a:cubicBezTo>
                  <a:cubicBezTo>
                    <a:pt x="104775" y="36322"/>
                    <a:pt x="105918" y="39751"/>
                    <a:pt x="106553" y="43180"/>
                  </a:cubicBezTo>
                  <a:cubicBezTo>
                    <a:pt x="107188" y="46609"/>
                    <a:pt x="107569" y="50165"/>
                    <a:pt x="107569" y="537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930473" y="9540230"/>
            <a:ext cx="107594" cy="107594"/>
            <a:chOff x="0" y="0"/>
            <a:chExt cx="107594" cy="107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569" cy="107569"/>
            </a:xfrm>
            <a:custGeom>
              <a:avLst/>
              <a:gdLst/>
              <a:ahLst/>
              <a:cxnLst/>
              <a:rect r="r" b="b" t="t" l="l"/>
              <a:pathLst>
                <a:path h="107569" w="107569">
                  <a:moveTo>
                    <a:pt x="107569" y="53848"/>
                  </a:moveTo>
                  <a:cubicBezTo>
                    <a:pt x="107569" y="57404"/>
                    <a:pt x="107188" y="60833"/>
                    <a:pt x="106553" y="64389"/>
                  </a:cubicBezTo>
                  <a:cubicBezTo>
                    <a:pt x="105918" y="67945"/>
                    <a:pt x="104902" y="71247"/>
                    <a:pt x="103505" y="74422"/>
                  </a:cubicBezTo>
                  <a:cubicBezTo>
                    <a:pt x="102108" y="77597"/>
                    <a:pt x="100457" y="80772"/>
                    <a:pt x="98552" y="83693"/>
                  </a:cubicBezTo>
                  <a:cubicBezTo>
                    <a:pt x="96647" y="86614"/>
                    <a:pt x="94361" y="89408"/>
                    <a:pt x="91821" y="91821"/>
                  </a:cubicBezTo>
                  <a:cubicBezTo>
                    <a:pt x="89281" y="94234"/>
                    <a:pt x="86614" y="96520"/>
                    <a:pt x="83693" y="98552"/>
                  </a:cubicBezTo>
                  <a:cubicBezTo>
                    <a:pt x="80772" y="100584"/>
                    <a:pt x="77597" y="102108"/>
                    <a:pt x="74422" y="103505"/>
                  </a:cubicBezTo>
                  <a:cubicBezTo>
                    <a:pt x="71247" y="104902"/>
                    <a:pt x="67818" y="105918"/>
                    <a:pt x="64389" y="106553"/>
                  </a:cubicBezTo>
                  <a:cubicBezTo>
                    <a:pt x="60960" y="107188"/>
                    <a:pt x="57404" y="107569"/>
                    <a:pt x="53848" y="107569"/>
                  </a:cubicBezTo>
                  <a:cubicBezTo>
                    <a:pt x="50292" y="107569"/>
                    <a:pt x="46863" y="107188"/>
                    <a:pt x="43307" y="106553"/>
                  </a:cubicBezTo>
                  <a:cubicBezTo>
                    <a:pt x="39751" y="105918"/>
                    <a:pt x="36449" y="104902"/>
                    <a:pt x="33274" y="103505"/>
                  </a:cubicBezTo>
                  <a:cubicBezTo>
                    <a:pt x="30099" y="102108"/>
                    <a:pt x="26924" y="100457"/>
                    <a:pt x="24003" y="98552"/>
                  </a:cubicBezTo>
                  <a:cubicBezTo>
                    <a:pt x="21082" y="96647"/>
                    <a:pt x="18288" y="94361"/>
                    <a:pt x="15875" y="91821"/>
                  </a:cubicBezTo>
                  <a:cubicBezTo>
                    <a:pt x="13462" y="89281"/>
                    <a:pt x="11176" y="86614"/>
                    <a:pt x="9144" y="83693"/>
                  </a:cubicBezTo>
                  <a:cubicBezTo>
                    <a:pt x="7112" y="80772"/>
                    <a:pt x="5461" y="77597"/>
                    <a:pt x="4191" y="74422"/>
                  </a:cubicBezTo>
                  <a:cubicBezTo>
                    <a:pt x="2921" y="71247"/>
                    <a:pt x="1778" y="67818"/>
                    <a:pt x="1143" y="64389"/>
                  </a:cubicBezTo>
                  <a:cubicBezTo>
                    <a:pt x="508" y="60960"/>
                    <a:pt x="0" y="57277"/>
                    <a:pt x="0" y="53848"/>
                  </a:cubicBezTo>
                  <a:cubicBezTo>
                    <a:pt x="0" y="50419"/>
                    <a:pt x="381" y="46863"/>
                    <a:pt x="1016" y="43307"/>
                  </a:cubicBezTo>
                  <a:cubicBezTo>
                    <a:pt x="1651" y="39751"/>
                    <a:pt x="2667" y="36449"/>
                    <a:pt x="4064" y="33274"/>
                  </a:cubicBezTo>
                  <a:cubicBezTo>
                    <a:pt x="5461" y="30099"/>
                    <a:pt x="7112" y="26924"/>
                    <a:pt x="9017" y="24003"/>
                  </a:cubicBezTo>
                  <a:cubicBezTo>
                    <a:pt x="10922" y="21082"/>
                    <a:pt x="13208" y="18288"/>
                    <a:pt x="15748" y="15875"/>
                  </a:cubicBezTo>
                  <a:cubicBezTo>
                    <a:pt x="18288" y="13462"/>
                    <a:pt x="20955" y="11176"/>
                    <a:pt x="23876" y="9144"/>
                  </a:cubicBezTo>
                  <a:cubicBezTo>
                    <a:pt x="26797" y="7112"/>
                    <a:pt x="29972" y="5461"/>
                    <a:pt x="33147" y="4191"/>
                  </a:cubicBezTo>
                  <a:cubicBezTo>
                    <a:pt x="36322" y="2921"/>
                    <a:pt x="39751" y="1778"/>
                    <a:pt x="43180" y="1143"/>
                  </a:cubicBezTo>
                  <a:cubicBezTo>
                    <a:pt x="46609" y="508"/>
                    <a:pt x="50292" y="0"/>
                    <a:pt x="53848" y="0"/>
                  </a:cubicBezTo>
                  <a:cubicBezTo>
                    <a:pt x="57404" y="0"/>
                    <a:pt x="60833" y="381"/>
                    <a:pt x="64389" y="1016"/>
                  </a:cubicBezTo>
                  <a:cubicBezTo>
                    <a:pt x="67945" y="1651"/>
                    <a:pt x="71247" y="2667"/>
                    <a:pt x="74422" y="4064"/>
                  </a:cubicBezTo>
                  <a:cubicBezTo>
                    <a:pt x="77597" y="5461"/>
                    <a:pt x="80772" y="7112"/>
                    <a:pt x="83693" y="9017"/>
                  </a:cubicBezTo>
                  <a:cubicBezTo>
                    <a:pt x="86614" y="10922"/>
                    <a:pt x="89408" y="13208"/>
                    <a:pt x="91821" y="15748"/>
                  </a:cubicBezTo>
                  <a:cubicBezTo>
                    <a:pt x="94234" y="18288"/>
                    <a:pt x="96520" y="20955"/>
                    <a:pt x="98552" y="23876"/>
                  </a:cubicBezTo>
                  <a:cubicBezTo>
                    <a:pt x="100584" y="26797"/>
                    <a:pt x="102235" y="29972"/>
                    <a:pt x="103505" y="33147"/>
                  </a:cubicBezTo>
                  <a:cubicBezTo>
                    <a:pt x="104775" y="36322"/>
                    <a:pt x="105918" y="39751"/>
                    <a:pt x="106553" y="43180"/>
                  </a:cubicBezTo>
                  <a:cubicBezTo>
                    <a:pt x="107188" y="46609"/>
                    <a:pt x="107569" y="50165"/>
                    <a:pt x="107569" y="5372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386966" y="915953"/>
            <a:ext cx="10988411" cy="8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Matriz de Confusão e métricas.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791" y="5078597"/>
            <a:ext cx="8577710" cy="110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rede aprendeu um espaço de embeddings com separação quase perfeita entre pares iguais e diferentes (AUC = 0.998).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87791" y="6521615"/>
            <a:ext cx="4255456" cy="37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 o limiar escolhido(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59798" y="6377702"/>
            <a:ext cx="4281973" cy="55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≈ 0.68), obteve Acurácia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87791" y="6882374"/>
            <a:ext cx="7961471" cy="146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98.2%, Precisão = 98.8%, Recall = 97.5% e F1 = 98.1%. Erros estão baixos e bem distribuídos: FAR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28626" y="7954118"/>
            <a:ext cx="344281" cy="42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Noto Kufi Arabic"/>
                <a:ea typeface="Noto Kufi Arabic"/>
                <a:cs typeface="Noto Kufi Arabic"/>
                <a:sym typeface="Noto Kufi Arabic"/>
              </a:rPr>
              <a:t>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87791" y="8325383"/>
            <a:ext cx="5079282" cy="37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1.2% (falsas aceitações) e FRR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67471" y="8181480"/>
            <a:ext cx="2329986" cy="55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≈ 2.5% (falsas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87791" y="8686143"/>
            <a:ext cx="1737503" cy="37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rejeições).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87791" y="9407652"/>
            <a:ext cx="8623144" cy="108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65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 curvas de loss de treino/validação caem juntas → boa generalização, sem overfitting visível.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097786" y="4262552"/>
            <a:ext cx="3465109" cy="2159537"/>
            <a:chOff x="0" y="0"/>
            <a:chExt cx="3465106" cy="2159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2738" y="63500"/>
              <a:ext cx="2904744" cy="2032635"/>
            </a:xfrm>
            <a:custGeom>
              <a:avLst/>
              <a:gdLst/>
              <a:ahLst/>
              <a:cxnLst/>
              <a:rect r="r" b="b" t="t" l="l"/>
              <a:pathLst>
                <a:path h="2032635" w="2904744">
                  <a:moveTo>
                    <a:pt x="1105789" y="302895"/>
                  </a:moveTo>
                  <a:cubicBezTo>
                    <a:pt x="1129157" y="302895"/>
                    <a:pt x="1152271" y="306451"/>
                    <a:pt x="1174242" y="315595"/>
                  </a:cubicBezTo>
                  <a:lnTo>
                    <a:pt x="1174242" y="315595"/>
                  </a:lnTo>
                  <a:cubicBezTo>
                    <a:pt x="1231519" y="341884"/>
                    <a:pt x="1221613" y="416052"/>
                    <a:pt x="1208659" y="466725"/>
                  </a:cubicBezTo>
                  <a:cubicBezTo>
                    <a:pt x="1174115" y="582041"/>
                    <a:pt x="1108075" y="684403"/>
                    <a:pt x="1047877" y="787654"/>
                  </a:cubicBezTo>
                  <a:cubicBezTo>
                    <a:pt x="956056" y="939800"/>
                    <a:pt x="858266" y="1089152"/>
                    <a:pt x="788670" y="1253363"/>
                  </a:cubicBezTo>
                  <a:cubicBezTo>
                    <a:pt x="875030" y="963676"/>
                    <a:pt x="961644" y="673862"/>
                    <a:pt x="1032383" y="379857"/>
                  </a:cubicBezTo>
                  <a:cubicBezTo>
                    <a:pt x="1037463" y="356362"/>
                    <a:pt x="1042543" y="332740"/>
                    <a:pt x="1047242" y="309118"/>
                  </a:cubicBezTo>
                  <a:cubicBezTo>
                    <a:pt x="1066419" y="305435"/>
                    <a:pt x="1086231" y="303022"/>
                    <a:pt x="1105789" y="303022"/>
                  </a:cubicBezTo>
                  <a:close/>
                  <a:moveTo>
                    <a:pt x="1031621" y="311658"/>
                  </a:moveTo>
                  <a:cubicBezTo>
                    <a:pt x="975741" y="582041"/>
                    <a:pt x="897509" y="847090"/>
                    <a:pt x="824230" y="1113028"/>
                  </a:cubicBezTo>
                  <a:cubicBezTo>
                    <a:pt x="771398" y="1295908"/>
                    <a:pt x="717042" y="1478788"/>
                    <a:pt x="645541" y="1655318"/>
                  </a:cubicBezTo>
                  <a:lnTo>
                    <a:pt x="645541" y="1655318"/>
                  </a:lnTo>
                  <a:cubicBezTo>
                    <a:pt x="605790" y="1750314"/>
                    <a:pt x="506476" y="2018665"/>
                    <a:pt x="384175" y="2018665"/>
                  </a:cubicBezTo>
                  <a:cubicBezTo>
                    <a:pt x="381508" y="2018665"/>
                    <a:pt x="378714" y="2018538"/>
                    <a:pt x="375920" y="2018284"/>
                  </a:cubicBezTo>
                  <a:cubicBezTo>
                    <a:pt x="346583" y="2014474"/>
                    <a:pt x="320040" y="1997583"/>
                    <a:pt x="300101" y="1975866"/>
                  </a:cubicBezTo>
                  <a:cubicBezTo>
                    <a:pt x="231521" y="1892935"/>
                    <a:pt x="202057" y="1773809"/>
                    <a:pt x="178689" y="1670177"/>
                  </a:cubicBezTo>
                  <a:cubicBezTo>
                    <a:pt x="130302" y="1420368"/>
                    <a:pt x="114554" y="1126236"/>
                    <a:pt x="216154" y="888111"/>
                  </a:cubicBezTo>
                  <a:cubicBezTo>
                    <a:pt x="275717" y="746887"/>
                    <a:pt x="386969" y="634492"/>
                    <a:pt x="512572" y="549656"/>
                  </a:cubicBezTo>
                  <a:cubicBezTo>
                    <a:pt x="670814" y="443484"/>
                    <a:pt x="845312" y="354965"/>
                    <a:pt x="1031748" y="311658"/>
                  </a:cubicBezTo>
                  <a:close/>
                  <a:moveTo>
                    <a:pt x="957580" y="0"/>
                  </a:moveTo>
                  <a:cubicBezTo>
                    <a:pt x="954786" y="0"/>
                    <a:pt x="951992" y="127"/>
                    <a:pt x="949198" y="508"/>
                  </a:cubicBezTo>
                  <a:cubicBezTo>
                    <a:pt x="907161" y="2540"/>
                    <a:pt x="867664" y="18034"/>
                    <a:pt x="828675" y="32766"/>
                  </a:cubicBezTo>
                  <a:cubicBezTo>
                    <a:pt x="754507" y="61849"/>
                    <a:pt x="683006" y="97409"/>
                    <a:pt x="613664" y="136525"/>
                  </a:cubicBezTo>
                  <a:cubicBezTo>
                    <a:pt x="572897" y="161036"/>
                    <a:pt x="532130" y="185547"/>
                    <a:pt x="491236" y="210058"/>
                  </a:cubicBezTo>
                  <a:cubicBezTo>
                    <a:pt x="445897" y="239522"/>
                    <a:pt x="401955" y="271018"/>
                    <a:pt x="357124" y="301117"/>
                  </a:cubicBezTo>
                  <a:cubicBezTo>
                    <a:pt x="271272" y="365252"/>
                    <a:pt x="185801" y="430276"/>
                    <a:pt x="106553" y="502412"/>
                  </a:cubicBezTo>
                  <a:cubicBezTo>
                    <a:pt x="76581" y="529463"/>
                    <a:pt x="46355" y="556387"/>
                    <a:pt x="18669" y="585724"/>
                  </a:cubicBezTo>
                  <a:lnTo>
                    <a:pt x="19177" y="585851"/>
                  </a:lnTo>
                  <a:cubicBezTo>
                    <a:pt x="13081" y="591820"/>
                    <a:pt x="6731" y="597662"/>
                    <a:pt x="2667" y="605155"/>
                  </a:cubicBezTo>
                  <a:cubicBezTo>
                    <a:pt x="1524" y="607695"/>
                    <a:pt x="0" y="611378"/>
                    <a:pt x="1397" y="614045"/>
                  </a:cubicBezTo>
                  <a:cubicBezTo>
                    <a:pt x="6985" y="624332"/>
                    <a:pt x="15240" y="633476"/>
                    <a:pt x="25019" y="639953"/>
                  </a:cubicBezTo>
                  <a:cubicBezTo>
                    <a:pt x="26162" y="640588"/>
                    <a:pt x="27305" y="640842"/>
                    <a:pt x="28448" y="640842"/>
                  </a:cubicBezTo>
                  <a:cubicBezTo>
                    <a:pt x="31242" y="640842"/>
                    <a:pt x="34036" y="639318"/>
                    <a:pt x="36830" y="638556"/>
                  </a:cubicBezTo>
                  <a:cubicBezTo>
                    <a:pt x="37846" y="638302"/>
                    <a:pt x="36576" y="635381"/>
                    <a:pt x="36449" y="635127"/>
                  </a:cubicBezTo>
                  <a:cubicBezTo>
                    <a:pt x="35560" y="633095"/>
                    <a:pt x="34290" y="631190"/>
                    <a:pt x="33020" y="629285"/>
                  </a:cubicBezTo>
                  <a:cubicBezTo>
                    <a:pt x="68199" y="586613"/>
                    <a:pt x="109601" y="549402"/>
                    <a:pt x="149098" y="510794"/>
                  </a:cubicBezTo>
                  <a:cubicBezTo>
                    <a:pt x="206502" y="457454"/>
                    <a:pt x="265938" y="406400"/>
                    <a:pt x="327279" y="357759"/>
                  </a:cubicBezTo>
                  <a:cubicBezTo>
                    <a:pt x="378206" y="314960"/>
                    <a:pt x="433197" y="277622"/>
                    <a:pt x="486664" y="238252"/>
                  </a:cubicBezTo>
                  <a:cubicBezTo>
                    <a:pt x="506349" y="223647"/>
                    <a:pt x="527685" y="211455"/>
                    <a:pt x="548132" y="197993"/>
                  </a:cubicBezTo>
                  <a:cubicBezTo>
                    <a:pt x="636905" y="139700"/>
                    <a:pt x="729361" y="86741"/>
                    <a:pt x="827659" y="46482"/>
                  </a:cubicBezTo>
                  <a:cubicBezTo>
                    <a:pt x="864108" y="32893"/>
                    <a:pt x="915162" y="10795"/>
                    <a:pt x="959866" y="10795"/>
                  </a:cubicBezTo>
                  <a:cubicBezTo>
                    <a:pt x="987552" y="10795"/>
                    <a:pt x="1012952" y="19177"/>
                    <a:pt x="1030986" y="43307"/>
                  </a:cubicBezTo>
                  <a:cubicBezTo>
                    <a:pt x="1056005" y="90551"/>
                    <a:pt x="1053592" y="147447"/>
                    <a:pt x="1048131" y="199263"/>
                  </a:cubicBezTo>
                  <a:cubicBezTo>
                    <a:pt x="1044702" y="234442"/>
                    <a:pt x="1039876" y="269367"/>
                    <a:pt x="1033018" y="304038"/>
                  </a:cubicBezTo>
                  <a:cubicBezTo>
                    <a:pt x="906145" y="330835"/>
                    <a:pt x="786003" y="383794"/>
                    <a:pt x="671195" y="443230"/>
                  </a:cubicBezTo>
                  <a:cubicBezTo>
                    <a:pt x="517144" y="525907"/>
                    <a:pt x="364871" y="627634"/>
                    <a:pt x="267208" y="776224"/>
                  </a:cubicBezTo>
                  <a:cubicBezTo>
                    <a:pt x="99060" y="1032764"/>
                    <a:pt x="111379" y="1398143"/>
                    <a:pt x="170815" y="1688465"/>
                  </a:cubicBezTo>
                  <a:cubicBezTo>
                    <a:pt x="194310" y="1787525"/>
                    <a:pt x="223393" y="1890268"/>
                    <a:pt x="289052" y="1970278"/>
                  </a:cubicBezTo>
                  <a:cubicBezTo>
                    <a:pt x="313309" y="1999361"/>
                    <a:pt x="345059" y="2026539"/>
                    <a:pt x="383540" y="2032254"/>
                  </a:cubicBezTo>
                  <a:cubicBezTo>
                    <a:pt x="386207" y="2032508"/>
                    <a:pt x="388874" y="2032635"/>
                    <a:pt x="391541" y="2032635"/>
                  </a:cubicBezTo>
                  <a:cubicBezTo>
                    <a:pt x="438023" y="2032635"/>
                    <a:pt x="472186" y="1993265"/>
                    <a:pt x="498348" y="1958213"/>
                  </a:cubicBezTo>
                  <a:cubicBezTo>
                    <a:pt x="544068" y="1895475"/>
                    <a:pt x="577723" y="1824863"/>
                    <a:pt x="608584" y="1753997"/>
                  </a:cubicBezTo>
                  <a:cubicBezTo>
                    <a:pt x="673608" y="1602486"/>
                    <a:pt x="727964" y="1447038"/>
                    <a:pt x="777494" y="1289812"/>
                  </a:cubicBezTo>
                  <a:cubicBezTo>
                    <a:pt x="777494" y="1292098"/>
                    <a:pt x="778891" y="1295019"/>
                    <a:pt x="780034" y="1297051"/>
                  </a:cubicBezTo>
                  <a:cubicBezTo>
                    <a:pt x="785368" y="1305433"/>
                    <a:pt x="792226" y="1313053"/>
                    <a:pt x="800354" y="1318768"/>
                  </a:cubicBezTo>
                  <a:cubicBezTo>
                    <a:pt x="802386" y="1320419"/>
                    <a:pt x="804672" y="1321181"/>
                    <a:pt x="807085" y="1321181"/>
                  </a:cubicBezTo>
                  <a:cubicBezTo>
                    <a:pt x="822198" y="1321181"/>
                    <a:pt x="843407" y="1293114"/>
                    <a:pt x="850519" y="1283462"/>
                  </a:cubicBezTo>
                  <a:cubicBezTo>
                    <a:pt x="908304" y="1201166"/>
                    <a:pt x="945388" y="1106678"/>
                    <a:pt x="987044" y="1015746"/>
                  </a:cubicBezTo>
                  <a:cubicBezTo>
                    <a:pt x="1025144" y="929513"/>
                    <a:pt x="1063752" y="842772"/>
                    <a:pt x="1118489" y="765429"/>
                  </a:cubicBezTo>
                  <a:cubicBezTo>
                    <a:pt x="1101217" y="849884"/>
                    <a:pt x="1076198" y="932434"/>
                    <a:pt x="1053338" y="1015492"/>
                  </a:cubicBezTo>
                  <a:cubicBezTo>
                    <a:pt x="1036193" y="1075944"/>
                    <a:pt x="1020318" y="1136650"/>
                    <a:pt x="1001649" y="1196721"/>
                  </a:cubicBezTo>
                  <a:cubicBezTo>
                    <a:pt x="1000506" y="1201420"/>
                    <a:pt x="999617" y="1205992"/>
                    <a:pt x="998982" y="1210945"/>
                  </a:cubicBezTo>
                  <a:cubicBezTo>
                    <a:pt x="1001903" y="1220724"/>
                    <a:pt x="1011047" y="1229106"/>
                    <a:pt x="1018921" y="1235329"/>
                  </a:cubicBezTo>
                  <a:cubicBezTo>
                    <a:pt x="1019937" y="1236218"/>
                    <a:pt x="1021080" y="1236599"/>
                    <a:pt x="1022223" y="1236599"/>
                  </a:cubicBezTo>
                  <a:cubicBezTo>
                    <a:pt x="1033526" y="1236599"/>
                    <a:pt x="1050417" y="1198372"/>
                    <a:pt x="1055751" y="1191006"/>
                  </a:cubicBezTo>
                  <a:cubicBezTo>
                    <a:pt x="1104646" y="1107059"/>
                    <a:pt x="1149604" y="1020953"/>
                    <a:pt x="1194181" y="934720"/>
                  </a:cubicBezTo>
                  <a:cubicBezTo>
                    <a:pt x="1182624" y="978281"/>
                    <a:pt x="1168400" y="1021715"/>
                    <a:pt x="1162431" y="1066292"/>
                  </a:cubicBezTo>
                  <a:cubicBezTo>
                    <a:pt x="1161669" y="1074420"/>
                    <a:pt x="1162939" y="1082802"/>
                    <a:pt x="1168273" y="1089152"/>
                  </a:cubicBezTo>
                  <a:cubicBezTo>
                    <a:pt x="1174623" y="1097280"/>
                    <a:pt x="1187450" y="1113917"/>
                    <a:pt x="1199134" y="1113917"/>
                  </a:cubicBezTo>
                  <a:cubicBezTo>
                    <a:pt x="1200023" y="1113917"/>
                    <a:pt x="1200912" y="1113790"/>
                    <a:pt x="1201801" y="1113663"/>
                  </a:cubicBezTo>
                  <a:cubicBezTo>
                    <a:pt x="1213739" y="1109345"/>
                    <a:pt x="1223137" y="1099820"/>
                    <a:pt x="1231519" y="1090803"/>
                  </a:cubicBezTo>
                  <a:cubicBezTo>
                    <a:pt x="1243203" y="1077976"/>
                    <a:pt x="1254379" y="1064768"/>
                    <a:pt x="1264666" y="1050798"/>
                  </a:cubicBezTo>
                  <a:cubicBezTo>
                    <a:pt x="1290320" y="1016635"/>
                    <a:pt x="1314323" y="981202"/>
                    <a:pt x="1338961" y="946277"/>
                  </a:cubicBezTo>
                  <a:lnTo>
                    <a:pt x="1338961" y="946277"/>
                  </a:lnTo>
                  <a:cubicBezTo>
                    <a:pt x="1336675" y="961898"/>
                    <a:pt x="1334389" y="977392"/>
                    <a:pt x="1332230" y="993013"/>
                  </a:cubicBezTo>
                  <a:cubicBezTo>
                    <a:pt x="1328674" y="1014222"/>
                    <a:pt x="1328928" y="1029716"/>
                    <a:pt x="1345946" y="1045083"/>
                  </a:cubicBezTo>
                  <a:cubicBezTo>
                    <a:pt x="1351788" y="1050163"/>
                    <a:pt x="1358392" y="1059053"/>
                    <a:pt x="1366647" y="1059053"/>
                  </a:cubicBezTo>
                  <a:cubicBezTo>
                    <a:pt x="1367663" y="1059053"/>
                    <a:pt x="1368806" y="1058926"/>
                    <a:pt x="1369949" y="1058545"/>
                  </a:cubicBezTo>
                  <a:cubicBezTo>
                    <a:pt x="1384427" y="1051941"/>
                    <a:pt x="1393952" y="1038098"/>
                    <a:pt x="1403985" y="1026160"/>
                  </a:cubicBezTo>
                  <a:cubicBezTo>
                    <a:pt x="1417066" y="1009396"/>
                    <a:pt x="1429258" y="991997"/>
                    <a:pt x="1441831" y="974852"/>
                  </a:cubicBezTo>
                  <a:cubicBezTo>
                    <a:pt x="1465961" y="942086"/>
                    <a:pt x="1490091" y="909193"/>
                    <a:pt x="1517650" y="879221"/>
                  </a:cubicBezTo>
                  <a:lnTo>
                    <a:pt x="1517650" y="879221"/>
                  </a:lnTo>
                  <a:cubicBezTo>
                    <a:pt x="1513078" y="899287"/>
                    <a:pt x="1507490" y="919099"/>
                    <a:pt x="1501902" y="938911"/>
                  </a:cubicBezTo>
                  <a:cubicBezTo>
                    <a:pt x="1498473" y="951611"/>
                    <a:pt x="1493266" y="965073"/>
                    <a:pt x="1496060" y="978408"/>
                  </a:cubicBezTo>
                  <a:cubicBezTo>
                    <a:pt x="1500505" y="992505"/>
                    <a:pt x="1520317" y="1015492"/>
                    <a:pt x="1535176" y="1018032"/>
                  </a:cubicBezTo>
                  <a:cubicBezTo>
                    <a:pt x="1535811" y="1018032"/>
                    <a:pt x="1536446" y="1018032"/>
                    <a:pt x="1537081" y="1018032"/>
                  </a:cubicBezTo>
                  <a:cubicBezTo>
                    <a:pt x="1587500" y="1018032"/>
                    <a:pt x="1660271" y="925576"/>
                    <a:pt x="1702689" y="898144"/>
                  </a:cubicBezTo>
                  <a:lnTo>
                    <a:pt x="1702689" y="898144"/>
                  </a:lnTo>
                  <a:cubicBezTo>
                    <a:pt x="1704848" y="916686"/>
                    <a:pt x="1702562" y="936117"/>
                    <a:pt x="1708785" y="954024"/>
                  </a:cubicBezTo>
                  <a:cubicBezTo>
                    <a:pt x="1716405" y="973455"/>
                    <a:pt x="1730883" y="989965"/>
                    <a:pt x="1747647" y="1002030"/>
                  </a:cubicBezTo>
                  <a:cubicBezTo>
                    <a:pt x="1761871" y="1011555"/>
                    <a:pt x="1778635" y="1015365"/>
                    <a:pt x="1796669" y="1015365"/>
                  </a:cubicBezTo>
                  <a:cubicBezTo>
                    <a:pt x="1851533" y="1015365"/>
                    <a:pt x="1918589" y="980313"/>
                    <a:pt x="1961896" y="963549"/>
                  </a:cubicBezTo>
                  <a:cubicBezTo>
                    <a:pt x="2008886" y="943864"/>
                    <a:pt x="2020697" y="937387"/>
                    <a:pt x="2027682" y="937387"/>
                  </a:cubicBezTo>
                  <a:cubicBezTo>
                    <a:pt x="2036699" y="937387"/>
                    <a:pt x="2037715" y="948309"/>
                    <a:pt x="2097278" y="955040"/>
                  </a:cubicBezTo>
                  <a:cubicBezTo>
                    <a:pt x="2111629" y="956564"/>
                    <a:pt x="2125980" y="957199"/>
                    <a:pt x="2140458" y="957199"/>
                  </a:cubicBezTo>
                  <a:cubicBezTo>
                    <a:pt x="2166112" y="957199"/>
                    <a:pt x="2191893" y="955294"/>
                    <a:pt x="2217547" y="953770"/>
                  </a:cubicBezTo>
                  <a:cubicBezTo>
                    <a:pt x="2296287" y="947928"/>
                    <a:pt x="2374519" y="936625"/>
                    <a:pt x="2453132" y="930148"/>
                  </a:cubicBezTo>
                  <a:cubicBezTo>
                    <a:pt x="2516124" y="924814"/>
                    <a:pt x="2579370" y="922020"/>
                    <a:pt x="2642616" y="922020"/>
                  </a:cubicBezTo>
                  <a:cubicBezTo>
                    <a:pt x="2714625" y="922020"/>
                    <a:pt x="2786507" y="925449"/>
                    <a:pt x="2858135" y="932434"/>
                  </a:cubicBezTo>
                  <a:cubicBezTo>
                    <a:pt x="2861691" y="935482"/>
                    <a:pt x="2865247" y="939546"/>
                    <a:pt x="2869946" y="940562"/>
                  </a:cubicBezTo>
                  <a:cubicBezTo>
                    <a:pt x="2874899" y="940435"/>
                    <a:pt x="2879852" y="940308"/>
                    <a:pt x="2884805" y="940054"/>
                  </a:cubicBezTo>
                  <a:cubicBezTo>
                    <a:pt x="2886583" y="939800"/>
                    <a:pt x="2904744" y="940689"/>
                    <a:pt x="2901696" y="936625"/>
                  </a:cubicBezTo>
                  <a:cubicBezTo>
                    <a:pt x="2897251" y="926211"/>
                    <a:pt x="2888615" y="917702"/>
                    <a:pt x="2879725" y="910844"/>
                  </a:cubicBezTo>
                  <a:cubicBezTo>
                    <a:pt x="2876042" y="908177"/>
                    <a:pt x="2871343" y="908177"/>
                    <a:pt x="2866898" y="908177"/>
                  </a:cubicBezTo>
                  <a:cubicBezTo>
                    <a:pt x="2866644" y="908177"/>
                    <a:pt x="2866390" y="908177"/>
                    <a:pt x="2866263" y="908177"/>
                  </a:cubicBezTo>
                  <a:cubicBezTo>
                    <a:pt x="2864739" y="908177"/>
                    <a:pt x="2863088" y="908177"/>
                    <a:pt x="2861564" y="908050"/>
                  </a:cubicBezTo>
                  <a:cubicBezTo>
                    <a:pt x="2786253" y="905891"/>
                    <a:pt x="2710815" y="901954"/>
                    <a:pt x="2635504" y="901700"/>
                  </a:cubicBezTo>
                  <a:cubicBezTo>
                    <a:pt x="2624836" y="901573"/>
                    <a:pt x="2614041" y="901446"/>
                    <a:pt x="2603373" y="901446"/>
                  </a:cubicBezTo>
                  <a:cubicBezTo>
                    <a:pt x="2485263" y="901446"/>
                    <a:pt x="2367661" y="912495"/>
                    <a:pt x="2250059" y="922655"/>
                  </a:cubicBezTo>
                  <a:cubicBezTo>
                    <a:pt x="2216658" y="924687"/>
                    <a:pt x="2173605" y="928624"/>
                    <a:pt x="2130933" y="928624"/>
                  </a:cubicBezTo>
                  <a:cubicBezTo>
                    <a:pt x="2084578" y="928624"/>
                    <a:pt x="2038858" y="923925"/>
                    <a:pt x="2006600" y="906780"/>
                  </a:cubicBezTo>
                  <a:cubicBezTo>
                    <a:pt x="2004441" y="905383"/>
                    <a:pt x="2002536" y="904748"/>
                    <a:pt x="2000631" y="904748"/>
                  </a:cubicBezTo>
                  <a:cubicBezTo>
                    <a:pt x="1996694" y="904748"/>
                    <a:pt x="1993265" y="907415"/>
                    <a:pt x="1988947" y="909955"/>
                  </a:cubicBezTo>
                  <a:cubicBezTo>
                    <a:pt x="1972056" y="919607"/>
                    <a:pt x="1954784" y="928751"/>
                    <a:pt x="1937131" y="936879"/>
                  </a:cubicBezTo>
                  <a:cubicBezTo>
                    <a:pt x="1895094" y="954913"/>
                    <a:pt x="1827403" y="986536"/>
                    <a:pt x="1773555" y="986536"/>
                  </a:cubicBezTo>
                  <a:cubicBezTo>
                    <a:pt x="1759712" y="986536"/>
                    <a:pt x="1746758" y="984377"/>
                    <a:pt x="1735328" y="979424"/>
                  </a:cubicBezTo>
                  <a:cubicBezTo>
                    <a:pt x="1722628" y="933958"/>
                    <a:pt x="1744091" y="900938"/>
                    <a:pt x="1693926" y="868045"/>
                  </a:cubicBezTo>
                  <a:cubicBezTo>
                    <a:pt x="1691894" y="866902"/>
                    <a:pt x="1689862" y="866267"/>
                    <a:pt x="1687703" y="866267"/>
                  </a:cubicBezTo>
                  <a:cubicBezTo>
                    <a:pt x="1673860" y="866267"/>
                    <a:pt x="1657858" y="888238"/>
                    <a:pt x="1648079" y="895604"/>
                  </a:cubicBezTo>
                  <a:cubicBezTo>
                    <a:pt x="1613408" y="926338"/>
                    <a:pt x="1566672" y="975106"/>
                    <a:pt x="1522222" y="987679"/>
                  </a:cubicBezTo>
                  <a:cubicBezTo>
                    <a:pt x="1526032" y="965581"/>
                    <a:pt x="1533144" y="944372"/>
                    <a:pt x="1538605" y="922655"/>
                  </a:cubicBezTo>
                  <a:cubicBezTo>
                    <a:pt x="1542669" y="905891"/>
                    <a:pt x="1549146" y="888238"/>
                    <a:pt x="1545463" y="870839"/>
                  </a:cubicBezTo>
                  <a:cubicBezTo>
                    <a:pt x="1543177" y="861695"/>
                    <a:pt x="1525651" y="838581"/>
                    <a:pt x="1514348" y="838581"/>
                  </a:cubicBezTo>
                  <a:cubicBezTo>
                    <a:pt x="1513586" y="838581"/>
                    <a:pt x="1512824" y="838708"/>
                    <a:pt x="1512062" y="838962"/>
                  </a:cubicBezTo>
                  <a:cubicBezTo>
                    <a:pt x="1509776" y="839724"/>
                    <a:pt x="1507236" y="840359"/>
                    <a:pt x="1505331" y="841883"/>
                  </a:cubicBezTo>
                  <a:cubicBezTo>
                    <a:pt x="1492758" y="852043"/>
                    <a:pt x="1483360" y="865378"/>
                    <a:pt x="1472946" y="877570"/>
                  </a:cubicBezTo>
                  <a:cubicBezTo>
                    <a:pt x="1455293" y="898652"/>
                    <a:pt x="1437894" y="919988"/>
                    <a:pt x="1421130" y="941832"/>
                  </a:cubicBezTo>
                  <a:cubicBezTo>
                    <a:pt x="1400810" y="967486"/>
                    <a:pt x="1382268" y="994918"/>
                    <a:pt x="1358900" y="1018032"/>
                  </a:cubicBezTo>
                  <a:cubicBezTo>
                    <a:pt x="1362964" y="983234"/>
                    <a:pt x="1370965" y="948944"/>
                    <a:pt x="1373632" y="914019"/>
                  </a:cubicBezTo>
                  <a:cubicBezTo>
                    <a:pt x="1374267" y="906145"/>
                    <a:pt x="1369314" y="899922"/>
                    <a:pt x="1364488" y="894334"/>
                  </a:cubicBezTo>
                  <a:cubicBezTo>
                    <a:pt x="1358773" y="888365"/>
                    <a:pt x="1352677" y="879729"/>
                    <a:pt x="1343914" y="878967"/>
                  </a:cubicBezTo>
                  <a:cubicBezTo>
                    <a:pt x="1341882" y="878967"/>
                    <a:pt x="1340231" y="882142"/>
                    <a:pt x="1339469" y="883412"/>
                  </a:cubicBezTo>
                  <a:cubicBezTo>
                    <a:pt x="1332611" y="893953"/>
                    <a:pt x="1325626" y="904494"/>
                    <a:pt x="1318514" y="914908"/>
                  </a:cubicBezTo>
                  <a:cubicBezTo>
                    <a:pt x="1293622" y="951357"/>
                    <a:pt x="1267841" y="987298"/>
                    <a:pt x="1240536" y="1021969"/>
                  </a:cubicBezTo>
                  <a:cubicBezTo>
                    <a:pt x="1224407" y="1041781"/>
                    <a:pt x="1208532" y="1062482"/>
                    <a:pt x="1188466" y="1078230"/>
                  </a:cubicBezTo>
                  <a:cubicBezTo>
                    <a:pt x="1204341" y="991870"/>
                    <a:pt x="1235329" y="909320"/>
                    <a:pt x="1260475" y="825500"/>
                  </a:cubicBezTo>
                  <a:cubicBezTo>
                    <a:pt x="1261745" y="821436"/>
                    <a:pt x="1262126" y="817118"/>
                    <a:pt x="1262761" y="813054"/>
                  </a:cubicBezTo>
                  <a:cubicBezTo>
                    <a:pt x="1263015" y="811911"/>
                    <a:pt x="1261999" y="810133"/>
                    <a:pt x="1261364" y="809244"/>
                  </a:cubicBezTo>
                  <a:cubicBezTo>
                    <a:pt x="1256919" y="801878"/>
                    <a:pt x="1250950" y="795147"/>
                    <a:pt x="1243838" y="790067"/>
                  </a:cubicBezTo>
                  <a:cubicBezTo>
                    <a:pt x="1243457" y="789813"/>
                    <a:pt x="1241425" y="788289"/>
                    <a:pt x="1240155" y="788289"/>
                  </a:cubicBezTo>
                  <a:cubicBezTo>
                    <a:pt x="1239901" y="788289"/>
                    <a:pt x="1239647" y="788416"/>
                    <a:pt x="1239520" y="788543"/>
                  </a:cubicBezTo>
                  <a:cubicBezTo>
                    <a:pt x="1236726" y="792480"/>
                    <a:pt x="1234186" y="796290"/>
                    <a:pt x="1232154" y="800608"/>
                  </a:cubicBezTo>
                  <a:cubicBezTo>
                    <a:pt x="1173861" y="914019"/>
                    <a:pt x="1110742" y="1025017"/>
                    <a:pt x="1046734" y="1135253"/>
                  </a:cubicBezTo>
                  <a:cubicBezTo>
                    <a:pt x="1072261" y="1044575"/>
                    <a:pt x="1101979" y="955167"/>
                    <a:pt x="1126109" y="864108"/>
                  </a:cubicBezTo>
                  <a:cubicBezTo>
                    <a:pt x="1133983" y="834771"/>
                    <a:pt x="1142238" y="805434"/>
                    <a:pt x="1145921" y="775208"/>
                  </a:cubicBezTo>
                  <a:cubicBezTo>
                    <a:pt x="1147191" y="767080"/>
                    <a:pt x="1148461" y="758952"/>
                    <a:pt x="1145794" y="751078"/>
                  </a:cubicBezTo>
                  <a:cubicBezTo>
                    <a:pt x="1140460" y="739140"/>
                    <a:pt x="1130300" y="729742"/>
                    <a:pt x="1119632" y="722376"/>
                  </a:cubicBezTo>
                  <a:cubicBezTo>
                    <a:pt x="1119124" y="721995"/>
                    <a:pt x="1117219" y="720598"/>
                    <a:pt x="1116076" y="720598"/>
                  </a:cubicBezTo>
                  <a:cubicBezTo>
                    <a:pt x="1115822" y="720598"/>
                    <a:pt x="1115568" y="720725"/>
                    <a:pt x="1115314" y="720852"/>
                  </a:cubicBezTo>
                  <a:cubicBezTo>
                    <a:pt x="1104519" y="729615"/>
                    <a:pt x="1098296" y="742315"/>
                    <a:pt x="1091438" y="754253"/>
                  </a:cubicBezTo>
                  <a:cubicBezTo>
                    <a:pt x="1025398" y="862330"/>
                    <a:pt x="973582" y="977900"/>
                    <a:pt x="919734" y="1092200"/>
                  </a:cubicBezTo>
                  <a:cubicBezTo>
                    <a:pt x="894588" y="1141222"/>
                    <a:pt x="870966" y="1191514"/>
                    <a:pt x="840486" y="1237488"/>
                  </a:cubicBezTo>
                  <a:cubicBezTo>
                    <a:pt x="828040" y="1256665"/>
                    <a:pt x="814959" y="1275588"/>
                    <a:pt x="797687" y="1290701"/>
                  </a:cubicBezTo>
                  <a:cubicBezTo>
                    <a:pt x="816356" y="1217549"/>
                    <a:pt x="852678" y="1149985"/>
                    <a:pt x="887349" y="1083310"/>
                  </a:cubicBezTo>
                  <a:cubicBezTo>
                    <a:pt x="945261" y="981456"/>
                    <a:pt x="1007999" y="882777"/>
                    <a:pt x="1069340" y="783082"/>
                  </a:cubicBezTo>
                  <a:cubicBezTo>
                    <a:pt x="1129030" y="679450"/>
                    <a:pt x="1223645" y="538353"/>
                    <a:pt x="1229106" y="418338"/>
                  </a:cubicBezTo>
                  <a:cubicBezTo>
                    <a:pt x="1230503" y="395351"/>
                    <a:pt x="1226693" y="371856"/>
                    <a:pt x="1214247" y="352044"/>
                  </a:cubicBezTo>
                  <a:cubicBezTo>
                    <a:pt x="1190625" y="308483"/>
                    <a:pt x="1148461" y="295402"/>
                    <a:pt x="1104138" y="295402"/>
                  </a:cubicBezTo>
                  <a:cubicBezTo>
                    <a:pt x="1085342" y="295402"/>
                    <a:pt x="1066038" y="297815"/>
                    <a:pt x="1047750" y="301117"/>
                  </a:cubicBezTo>
                  <a:cubicBezTo>
                    <a:pt x="1060196" y="223901"/>
                    <a:pt x="1084834" y="96520"/>
                    <a:pt x="1027176" y="34036"/>
                  </a:cubicBezTo>
                  <a:cubicBezTo>
                    <a:pt x="1009523" y="14224"/>
                    <a:pt x="984504" y="0"/>
                    <a:pt x="95758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704465" y="660781"/>
              <a:ext cx="697739" cy="231648"/>
            </a:xfrm>
            <a:custGeom>
              <a:avLst/>
              <a:gdLst/>
              <a:ahLst/>
              <a:cxnLst/>
              <a:rect r="r" b="b" t="t" l="l"/>
              <a:pathLst>
                <a:path h="231648" w="697739">
                  <a:moveTo>
                    <a:pt x="686943" y="12065"/>
                  </a:moveTo>
                  <a:cubicBezTo>
                    <a:pt x="682117" y="11557"/>
                    <a:pt x="567055" y="0"/>
                    <a:pt x="425577" y="34290"/>
                  </a:cubicBezTo>
                  <a:cubicBezTo>
                    <a:pt x="401193" y="40132"/>
                    <a:pt x="387604" y="49911"/>
                    <a:pt x="383667" y="64008"/>
                  </a:cubicBezTo>
                  <a:cubicBezTo>
                    <a:pt x="376936" y="88519"/>
                    <a:pt x="402844" y="114173"/>
                    <a:pt x="430276" y="141351"/>
                  </a:cubicBezTo>
                  <a:cubicBezTo>
                    <a:pt x="447294" y="158115"/>
                    <a:pt x="472821" y="183388"/>
                    <a:pt x="469011" y="192913"/>
                  </a:cubicBezTo>
                  <a:cubicBezTo>
                    <a:pt x="467995" y="195580"/>
                    <a:pt x="458597" y="208788"/>
                    <a:pt x="378714" y="208788"/>
                  </a:cubicBezTo>
                  <a:lnTo>
                    <a:pt x="11303" y="208788"/>
                  </a:lnTo>
                  <a:cubicBezTo>
                    <a:pt x="5080" y="208788"/>
                    <a:pt x="0" y="213868"/>
                    <a:pt x="0" y="220218"/>
                  </a:cubicBezTo>
                  <a:cubicBezTo>
                    <a:pt x="0" y="226568"/>
                    <a:pt x="5080" y="231648"/>
                    <a:pt x="11303" y="231648"/>
                  </a:cubicBezTo>
                  <a:lnTo>
                    <a:pt x="378841" y="231648"/>
                  </a:lnTo>
                  <a:cubicBezTo>
                    <a:pt x="448310" y="231648"/>
                    <a:pt x="481584" y="222631"/>
                    <a:pt x="490220" y="201549"/>
                  </a:cubicBezTo>
                  <a:cubicBezTo>
                    <a:pt x="499745" y="177800"/>
                    <a:pt x="473837" y="152146"/>
                    <a:pt x="446278" y="124968"/>
                  </a:cubicBezTo>
                  <a:cubicBezTo>
                    <a:pt x="427736" y="106680"/>
                    <a:pt x="402463" y="81661"/>
                    <a:pt x="405638" y="70104"/>
                  </a:cubicBezTo>
                  <a:cubicBezTo>
                    <a:pt x="406273" y="67691"/>
                    <a:pt x="410083" y="61595"/>
                    <a:pt x="430911" y="56515"/>
                  </a:cubicBezTo>
                  <a:cubicBezTo>
                    <a:pt x="568452" y="23241"/>
                    <a:pt x="683641" y="34671"/>
                    <a:pt x="684657" y="34798"/>
                  </a:cubicBezTo>
                  <a:cubicBezTo>
                    <a:pt x="691261" y="35179"/>
                    <a:pt x="696468" y="30861"/>
                    <a:pt x="697103" y="24638"/>
                  </a:cubicBezTo>
                  <a:cubicBezTo>
                    <a:pt x="697739" y="18415"/>
                    <a:pt x="693166" y="12700"/>
                    <a:pt x="686943" y="12065"/>
                  </a:cubicBezTo>
                </a:path>
              </a:pathLst>
            </a:custGeom>
            <a:solidFill>
              <a:srgbClr val="100F0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36444" y="63881"/>
              <a:ext cx="816229" cy="822833"/>
            </a:xfrm>
            <a:custGeom>
              <a:avLst/>
              <a:gdLst/>
              <a:ahLst/>
              <a:cxnLst/>
              <a:rect r="r" b="b" t="t" l="l"/>
              <a:pathLst>
                <a:path h="822833" w="816229">
                  <a:moveTo>
                    <a:pt x="114935" y="775589"/>
                  </a:moveTo>
                  <a:lnTo>
                    <a:pt x="47244" y="791210"/>
                  </a:lnTo>
                  <a:lnTo>
                    <a:pt x="111633" y="726186"/>
                  </a:lnTo>
                  <a:cubicBezTo>
                    <a:pt x="116078" y="721741"/>
                    <a:pt x="116078" y="714375"/>
                    <a:pt x="111633" y="709930"/>
                  </a:cubicBezTo>
                  <a:cubicBezTo>
                    <a:pt x="107188" y="705485"/>
                    <a:pt x="99949" y="705485"/>
                    <a:pt x="95504" y="709930"/>
                  </a:cubicBezTo>
                  <a:lnTo>
                    <a:pt x="31115" y="774954"/>
                  </a:lnTo>
                  <a:lnTo>
                    <a:pt x="46609" y="706628"/>
                  </a:lnTo>
                  <a:lnTo>
                    <a:pt x="140843" y="646557"/>
                  </a:lnTo>
                  <a:lnTo>
                    <a:pt x="174498" y="680593"/>
                  </a:lnTo>
                  <a:lnTo>
                    <a:pt x="114935" y="775589"/>
                  </a:lnTo>
                  <a:close/>
                  <a:moveTo>
                    <a:pt x="339852" y="422402"/>
                  </a:moveTo>
                  <a:lnTo>
                    <a:pt x="368173" y="450977"/>
                  </a:lnTo>
                  <a:lnTo>
                    <a:pt x="396621" y="479679"/>
                  </a:lnTo>
                  <a:lnTo>
                    <a:pt x="202057" y="676021"/>
                  </a:lnTo>
                  <a:lnTo>
                    <a:pt x="145288" y="618744"/>
                  </a:lnTo>
                  <a:lnTo>
                    <a:pt x="339852" y="422402"/>
                  </a:lnTo>
                  <a:close/>
                  <a:moveTo>
                    <a:pt x="731139" y="27686"/>
                  </a:moveTo>
                  <a:lnTo>
                    <a:pt x="787908" y="85090"/>
                  </a:lnTo>
                  <a:lnTo>
                    <a:pt x="749046" y="124333"/>
                  </a:lnTo>
                  <a:cubicBezTo>
                    <a:pt x="749046" y="124333"/>
                    <a:pt x="748919" y="124333"/>
                    <a:pt x="748919" y="124333"/>
                  </a:cubicBezTo>
                  <a:cubicBezTo>
                    <a:pt x="748919" y="124333"/>
                    <a:pt x="748919" y="124460"/>
                    <a:pt x="748919" y="124460"/>
                  </a:cubicBezTo>
                  <a:lnTo>
                    <a:pt x="412750" y="463550"/>
                  </a:lnTo>
                  <a:lnTo>
                    <a:pt x="384429" y="434975"/>
                  </a:lnTo>
                  <a:lnTo>
                    <a:pt x="355981" y="406273"/>
                  </a:lnTo>
                  <a:lnTo>
                    <a:pt x="731139" y="27686"/>
                  </a:lnTo>
                  <a:close/>
                  <a:moveTo>
                    <a:pt x="194056" y="700405"/>
                  </a:moveTo>
                  <a:cubicBezTo>
                    <a:pt x="196215" y="702691"/>
                    <a:pt x="199136" y="703707"/>
                    <a:pt x="202057" y="703707"/>
                  </a:cubicBezTo>
                  <a:cubicBezTo>
                    <a:pt x="204978" y="703707"/>
                    <a:pt x="207899" y="702564"/>
                    <a:pt x="210058" y="700405"/>
                  </a:cubicBezTo>
                  <a:lnTo>
                    <a:pt x="420624" y="487934"/>
                  </a:lnTo>
                  <a:lnTo>
                    <a:pt x="756793" y="148717"/>
                  </a:lnTo>
                  <a:lnTo>
                    <a:pt x="780923" y="173101"/>
                  </a:lnTo>
                  <a:lnTo>
                    <a:pt x="526669" y="429641"/>
                  </a:lnTo>
                  <a:cubicBezTo>
                    <a:pt x="503555" y="453009"/>
                    <a:pt x="503555" y="491109"/>
                    <a:pt x="526669" y="514604"/>
                  </a:cubicBezTo>
                  <a:cubicBezTo>
                    <a:pt x="528828" y="516890"/>
                    <a:pt x="531749" y="517906"/>
                    <a:pt x="534670" y="517906"/>
                  </a:cubicBezTo>
                  <a:cubicBezTo>
                    <a:pt x="537591" y="517906"/>
                    <a:pt x="540512" y="516763"/>
                    <a:pt x="542671" y="514604"/>
                  </a:cubicBezTo>
                  <a:cubicBezTo>
                    <a:pt x="547116" y="510159"/>
                    <a:pt x="547116" y="502793"/>
                    <a:pt x="542671" y="498348"/>
                  </a:cubicBezTo>
                  <a:cubicBezTo>
                    <a:pt x="528320" y="483870"/>
                    <a:pt x="528320" y="460375"/>
                    <a:pt x="542671" y="445897"/>
                  </a:cubicBezTo>
                  <a:lnTo>
                    <a:pt x="804926" y="181229"/>
                  </a:lnTo>
                  <a:cubicBezTo>
                    <a:pt x="809371" y="176784"/>
                    <a:pt x="809371" y="169418"/>
                    <a:pt x="804926" y="164973"/>
                  </a:cubicBezTo>
                  <a:lnTo>
                    <a:pt x="772795" y="132461"/>
                  </a:lnTo>
                  <a:lnTo>
                    <a:pt x="811784" y="93218"/>
                  </a:lnTo>
                  <a:cubicBezTo>
                    <a:pt x="816229" y="88773"/>
                    <a:pt x="816229" y="81407"/>
                    <a:pt x="811784" y="76962"/>
                  </a:cubicBezTo>
                  <a:lnTo>
                    <a:pt x="738886" y="3429"/>
                  </a:lnTo>
                  <a:cubicBezTo>
                    <a:pt x="736727" y="1270"/>
                    <a:pt x="733806" y="0"/>
                    <a:pt x="730885" y="0"/>
                  </a:cubicBezTo>
                  <a:cubicBezTo>
                    <a:pt x="727964" y="0"/>
                    <a:pt x="724916" y="1143"/>
                    <a:pt x="722884" y="3302"/>
                  </a:cubicBezTo>
                  <a:lnTo>
                    <a:pt x="121285" y="610616"/>
                  </a:lnTo>
                  <a:cubicBezTo>
                    <a:pt x="116840" y="615061"/>
                    <a:pt x="116840" y="622427"/>
                    <a:pt x="121285" y="626872"/>
                  </a:cubicBezTo>
                  <a:lnTo>
                    <a:pt x="124460" y="630047"/>
                  </a:lnTo>
                  <a:lnTo>
                    <a:pt x="30607" y="689864"/>
                  </a:lnTo>
                  <a:cubicBezTo>
                    <a:pt x="28067" y="691515"/>
                    <a:pt x="26289" y="694055"/>
                    <a:pt x="25654" y="696976"/>
                  </a:cubicBezTo>
                  <a:lnTo>
                    <a:pt x="254" y="808736"/>
                  </a:lnTo>
                  <a:cubicBezTo>
                    <a:pt x="254" y="808863"/>
                    <a:pt x="381" y="808990"/>
                    <a:pt x="254" y="809244"/>
                  </a:cubicBezTo>
                  <a:cubicBezTo>
                    <a:pt x="0" y="810514"/>
                    <a:pt x="381" y="811657"/>
                    <a:pt x="635" y="812927"/>
                  </a:cubicBezTo>
                  <a:cubicBezTo>
                    <a:pt x="889" y="814197"/>
                    <a:pt x="762" y="815340"/>
                    <a:pt x="1270" y="816356"/>
                  </a:cubicBezTo>
                  <a:cubicBezTo>
                    <a:pt x="1397" y="816483"/>
                    <a:pt x="1270" y="816737"/>
                    <a:pt x="1397" y="816864"/>
                  </a:cubicBezTo>
                  <a:cubicBezTo>
                    <a:pt x="2413" y="818769"/>
                    <a:pt x="3937" y="820293"/>
                    <a:pt x="5715" y="821309"/>
                  </a:cubicBezTo>
                  <a:cubicBezTo>
                    <a:pt x="5715" y="821309"/>
                    <a:pt x="5715" y="821436"/>
                    <a:pt x="5842" y="821436"/>
                  </a:cubicBezTo>
                  <a:cubicBezTo>
                    <a:pt x="7620" y="822325"/>
                    <a:pt x="9398" y="822833"/>
                    <a:pt x="11303" y="822833"/>
                  </a:cubicBezTo>
                  <a:cubicBezTo>
                    <a:pt x="12192" y="822833"/>
                    <a:pt x="12954" y="822706"/>
                    <a:pt x="13843" y="822579"/>
                  </a:cubicBezTo>
                  <a:lnTo>
                    <a:pt x="124587" y="797052"/>
                  </a:lnTo>
                  <a:cubicBezTo>
                    <a:pt x="127508" y="796417"/>
                    <a:pt x="130048" y="794512"/>
                    <a:pt x="131572" y="791972"/>
                  </a:cubicBezTo>
                  <a:lnTo>
                    <a:pt x="190881" y="697357"/>
                  </a:lnTo>
                  <a:lnTo>
                    <a:pt x="194056" y="700532"/>
                  </a:lnTo>
                </a:path>
              </a:pathLst>
            </a:custGeom>
            <a:solidFill>
              <a:srgbClr val="100F0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56380" y="3113294"/>
            <a:ext cx="2857500" cy="3248025"/>
          </a:xfrm>
          <a:custGeom>
            <a:avLst/>
            <a:gdLst/>
            <a:ahLst/>
            <a:cxnLst/>
            <a:rect r="r" b="b" t="t" l="l"/>
            <a:pathLst>
              <a:path h="3248025" w="2857500">
                <a:moveTo>
                  <a:pt x="0" y="0"/>
                </a:moveTo>
                <a:lnTo>
                  <a:pt x="2857500" y="0"/>
                </a:lnTo>
                <a:lnTo>
                  <a:pt x="2857500" y="3248025"/>
                </a:lnTo>
                <a:lnTo>
                  <a:pt x="0" y="3248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37996" y="2977334"/>
            <a:ext cx="3409950" cy="3524250"/>
          </a:xfrm>
          <a:custGeom>
            <a:avLst/>
            <a:gdLst/>
            <a:ahLst/>
            <a:cxnLst/>
            <a:rect r="r" b="b" t="t" l="l"/>
            <a:pathLst>
              <a:path h="3524250" w="3409950">
                <a:moveTo>
                  <a:pt x="0" y="0"/>
                </a:moveTo>
                <a:lnTo>
                  <a:pt x="3409950" y="0"/>
                </a:lnTo>
                <a:lnTo>
                  <a:pt x="3409950" y="3524250"/>
                </a:lnTo>
                <a:lnTo>
                  <a:pt x="0" y="3524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097157" y="4242702"/>
            <a:ext cx="3469910" cy="2184397"/>
            <a:chOff x="0" y="0"/>
            <a:chExt cx="3469907" cy="218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2908046" cy="2057400"/>
            </a:xfrm>
            <a:custGeom>
              <a:avLst/>
              <a:gdLst/>
              <a:ahLst/>
              <a:cxnLst/>
              <a:rect r="r" b="b" t="t" l="l"/>
              <a:pathLst>
                <a:path h="2057400" w="2908046">
                  <a:moveTo>
                    <a:pt x="0" y="2057400"/>
                  </a:moveTo>
                  <a:lnTo>
                    <a:pt x="2908046" y="2057400"/>
                  </a:lnTo>
                  <a:lnTo>
                    <a:pt x="29080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36571" y="83693"/>
              <a:ext cx="869823" cy="824103"/>
            </a:xfrm>
            <a:custGeom>
              <a:avLst/>
              <a:gdLst/>
              <a:ahLst/>
              <a:cxnLst/>
              <a:rect r="r" b="b" t="t" l="l"/>
              <a:pathLst>
                <a:path h="824103" w="869823">
                  <a:moveTo>
                    <a:pt x="0" y="824103"/>
                  </a:moveTo>
                  <a:lnTo>
                    <a:pt x="869823" y="824103"/>
                  </a:lnTo>
                  <a:lnTo>
                    <a:pt x="8698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50004" y="902970"/>
            <a:ext cx="6923646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Casos de Sucesso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205" y="6637210"/>
            <a:ext cx="4227852" cy="42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Verificação de assinatura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54119" y="6637210"/>
            <a:ext cx="3017177" cy="86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Verificação facial (foto-a-foto)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23278" y="6637210"/>
            <a:ext cx="4934379" cy="86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4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 Deduplicação de catálogo / busca visual em e-commerce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465749"/>
            <a:ext cx="16897779" cy="119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60"/>
              </a:lnSpc>
            </a:pPr>
            <a:r>
              <a:rPr lang="en-US" b="true" sz="69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Comparação com outros algoritmos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600103" y="255124"/>
          <a:ext cx="5029200" cy="2933700"/>
        </p:xfrm>
        <a:graphic>
          <a:graphicData uri="http://schemas.openxmlformats.org/presentationml/2006/ole">
            <p:oleObj imgW="6032500" imgH="39370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82330" y="1239974"/>
            <a:ext cx="5021485" cy="120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Conclusão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81778" y="2898278"/>
            <a:ext cx="14422590" cy="571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433" indent="-351716" lvl="1">
              <a:lnSpc>
                <a:spcPts val="3482"/>
              </a:lnSpc>
              <a:buFont typeface="Arial"/>
              <a:buChar char="•"/>
            </a:pPr>
            <a:r>
              <a:rPr lang="en-US" sz="325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Redes baseadas em semelhança (Siamese, Triplet, Relation Network) são fundamentais para problemas de comparação e reconhecimento.</a:t>
            </a:r>
          </a:p>
          <a:p>
            <a:pPr algn="l" marL="703433" indent="-351716" lvl="1">
              <a:lnSpc>
                <a:spcPts val="3482"/>
              </a:lnSpc>
              <a:buFont typeface="Arial"/>
              <a:buChar char="•"/>
            </a:pPr>
            <a:r>
              <a:rPr lang="en-US" sz="325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Siamese Network se destaca pela simplicidade e eficácia, ideal para tarefas de verificação.</a:t>
            </a:r>
          </a:p>
          <a:p>
            <a:pPr algn="l" marL="703433" indent="-351716" lvl="1">
              <a:lnSpc>
                <a:spcPts val="3482"/>
              </a:lnSpc>
              <a:buFont typeface="Arial"/>
              <a:buChar char="•"/>
            </a:pPr>
            <a:r>
              <a:rPr lang="en-US" sz="325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 Triplet Networks enriquecem o aprendizado ao considerar relações entre três exemplos, mas exigem maior cuidado no treinamento.</a:t>
            </a:r>
          </a:p>
          <a:p>
            <a:pPr algn="l" marL="703433" indent="-351716" lvl="1">
              <a:lnSpc>
                <a:spcPts val="3482"/>
              </a:lnSpc>
              <a:buFont typeface="Arial"/>
              <a:buChar char="•"/>
            </a:pPr>
            <a:r>
              <a:rPr lang="en-US" sz="325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 Relation Networks vão além da distância, aprendendo funções relacionais mais complexas, úteis em few-shot e zero-shot learning.</a:t>
            </a:r>
          </a:p>
          <a:p>
            <a:pPr algn="l" marL="703433" indent="-351716" lvl="1">
              <a:lnSpc>
                <a:spcPts val="3482"/>
              </a:lnSpc>
              <a:buFont typeface="Arial"/>
              <a:buChar char="•"/>
            </a:pPr>
            <a:r>
              <a:rPr lang="en-US" sz="325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escolha da arquitetura depende do nível de complexidade da tarefa e da quantidade de dados disponíveis.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40118" y="4029542"/>
            <a:ext cx="7272747" cy="170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b="true" sz="99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Perguntas?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456363" y="7717631"/>
            <a:ext cx="1271435" cy="38100"/>
            <a:chOff x="0" y="0"/>
            <a:chExt cx="1271435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1397" cy="38100"/>
            </a:xfrm>
            <a:custGeom>
              <a:avLst/>
              <a:gdLst/>
              <a:ahLst/>
              <a:cxnLst/>
              <a:rect r="r" b="b" t="t" l="l"/>
              <a:pathLst>
                <a:path h="38100" w="1271397">
                  <a:moveTo>
                    <a:pt x="0" y="0"/>
                  </a:moveTo>
                  <a:lnTo>
                    <a:pt x="0" y="38100"/>
                  </a:lnTo>
                  <a:lnTo>
                    <a:pt x="26289" y="38100"/>
                  </a:lnTo>
                  <a:lnTo>
                    <a:pt x="26289" y="0"/>
                  </a:lnTo>
                  <a:close/>
                  <a:moveTo>
                    <a:pt x="150749" y="0"/>
                  </a:moveTo>
                  <a:lnTo>
                    <a:pt x="150749" y="38100"/>
                  </a:lnTo>
                  <a:lnTo>
                    <a:pt x="1019683" y="38100"/>
                  </a:lnTo>
                  <a:lnTo>
                    <a:pt x="1019683" y="0"/>
                  </a:lnTo>
                  <a:close/>
                  <a:moveTo>
                    <a:pt x="1144143" y="0"/>
                  </a:moveTo>
                  <a:lnTo>
                    <a:pt x="1144143" y="38100"/>
                  </a:lnTo>
                  <a:lnTo>
                    <a:pt x="1271397" y="38100"/>
                  </a:lnTo>
                  <a:lnTo>
                    <a:pt x="127139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92860" y="6587328"/>
            <a:ext cx="1503664" cy="165097"/>
            <a:chOff x="0" y="0"/>
            <a:chExt cx="1503655" cy="165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09347" cy="38100"/>
            </a:xfrm>
            <a:custGeom>
              <a:avLst/>
              <a:gdLst/>
              <a:ahLst/>
              <a:cxnLst/>
              <a:rect r="r" b="b" t="t" l="l"/>
              <a:pathLst>
                <a:path h="38100" w="109347">
                  <a:moveTo>
                    <a:pt x="0" y="0"/>
                  </a:moveTo>
                  <a:lnTo>
                    <a:pt x="109347" y="0"/>
                  </a:lnTo>
                  <a:lnTo>
                    <a:pt x="10934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2847" y="63500"/>
              <a:ext cx="1267333" cy="38100"/>
            </a:xfrm>
            <a:custGeom>
              <a:avLst/>
              <a:gdLst/>
              <a:ahLst/>
              <a:cxnLst/>
              <a:rect r="r" b="b" t="t" l="l"/>
              <a:pathLst>
                <a:path h="38100" w="1267333">
                  <a:moveTo>
                    <a:pt x="0" y="0"/>
                  </a:moveTo>
                  <a:lnTo>
                    <a:pt x="1267333" y="0"/>
                  </a:lnTo>
                  <a:lnTo>
                    <a:pt x="12673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56363" y="4517231"/>
            <a:ext cx="14941753" cy="38100"/>
            <a:chOff x="0" y="0"/>
            <a:chExt cx="14941753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41804" cy="38100"/>
            </a:xfrm>
            <a:custGeom>
              <a:avLst/>
              <a:gdLst/>
              <a:ahLst/>
              <a:cxnLst/>
              <a:rect r="r" b="b" t="t" l="l"/>
              <a:pathLst>
                <a:path h="38100" w="14941804">
                  <a:moveTo>
                    <a:pt x="0" y="0"/>
                  </a:moveTo>
                  <a:lnTo>
                    <a:pt x="0" y="38100"/>
                  </a:lnTo>
                  <a:lnTo>
                    <a:pt x="2667" y="38100"/>
                  </a:lnTo>
                  <a:lnTo>
                    <a:pt x="2667" y="0"/>
                  </a:lnTo>
                  <a:close/>
                  <a:moveTo>
                    <a:pt x="170688" y="0"/>
                  </a:moveTo>
                  <a:lnTo>
                    <a:pt x="170688" y="38100"/>
                  </a:lnTo>
                  <a:lnTo>
                    <a:pt x="337947" y="38100"/>
                  </a:lnTo>
                  <a:lnTo>
                    <a:pt x="337947" y="0"/>
                  </a:lnTo>
                  <a:close/>
                  <a:moveTo>
                    <a:pt x="505968" y="0"/>
                  </a:moveTo>
                  <a:lnTo>
                    <a:pt x="505968" y="38100"/>
                  </a:lnTo>
                  <a:lnTo>
                    <a:pt x="1602740" y="38100"/>
                  </a:lnTo>
                  <a:lnTo>
                    <a:pt x="1602740" y="0"/>
                  </a:lnTo>
                  <a:close/>
                  <a:moveTo>
                    <a:pt x="1728089" y="0"/>
                  </a:moveTo>
                  <a:lnTo>
                    <a:pt x="1728089" y="38100"/>
                  </a:lnTo>
                  <a:lnTo>
                    <a:pt x="11885295" y="38100"/>
                  </a:lnTo>
                  <a:lnTo>
                    <a:pt x="11885295" y="0"/>
                  </a:lnTo>
                  <a:close/>
                  <a:moveTo>
                    <a:pt x="12156186" y="0"/>
                  </a:moveTo>
                  <a:lnTo>
                    <a:pt x="12156186" y="38100"/>
                  </a:lnTo>
                  <a:lnTo>
                    <a:pt x="13408533" y="38100"/>
                  </a:lnTo>
                  <a:lnTo>
                    <a:pt x="13408533" y="0"/>
                  </a:lnTo>
                  <a:close/>
                  <a:moveTo>
                    <a:pt x="13679424" y="0"/>
                  </a:moveTo>
                  <a:lnTo>
                    <a:pt x="13679424" y="38100"/>
                  </a:lnTo>
                  <a:lnTo>
                    <a:pt x="14941804" y="38100"/>
                  </a:lnTo>
                  <a:lnTo>
                    <a:pt x="1494180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56363" y="7184231"/>
            <a:ext cx="14170971" cy="38100"/>
            <a:chOff x="0" y="0"/>
            <a:chExt cx="14170965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70915" cy="38100"/>
            </a:xfrm>
            <a:custGeom>
              <a:avLst/>
              <a:gdLst/>
              <a:ahLst/>
              <a:cxnLst/>
              <a:rect r="r" b="b" t="t" l="l"/>
              <a:pathLst>
                <a:path h="38100" w="14170915">
                  <a:moveTo>
                    <a:pt x="0" y="0"/>
                  </a:moveTo>
                  <a:lnTo>
                    <a:pt x="0" y="38100"/>
                  </a:lnTo>
                  <a:lnTo>
                    <a:pt x="2667" y="38100"/>
                  </a:lnTo>
                  <a:lnTo>
                    <a:pt x="2667" y="0"/>
                  </a:lnTo>
                  <a:close/>
                  <a:moveTo>
                    <a:pt x="170688" y="0"/>
                  </a:moveTo>
                  <a:lnTo>
                    <a:pt x="170688" y="38100"/>
                  </a:lnTo>
                  <a:lnTo>
                    <a:pt x="321183" y="38100"/>
                  </a:lnTo>
                  <a:lnTo>
                    <a:pt x="321183" y="0"/>
                  </a:lnTo>
                  <a:close/>
                  <a:moveTo>
                    <a:pt x="489204" y="0"/>
                  </a:moveTo>
                  <a:lnTo>
                    <a:pt x="489204" y="38100"/>
                  </a:lnTo>
                  <a:lnTo>
                    <a:pt x="2568956" y="38100"/>
                  </a:lnTo>
                  <a:lnTo>
                    <a:pt x="2568956" y="0"/>
                  </a:lnTo>
                  <a:close/>
                  <a:moveTo>
                    <a:pt x="2694305" y="0"/>
                  </a:moveTo>
                  <a:lnTo>
                    <a:pt x="2694305" y="38100"/>
                  </a:lnTo>
                  <a:lnTo>
                    <a:pt x="3160268" y="38100"/>
                  </a:lnTo>
                  <a:lnTo>
                    <a:pt x="3160268" y="0"/>
                  </a:lnTo>
                  <a:close/>
                  <a:moveTo>
                    <a:pt x="3285617" y="0"/>
                  </a:moveTo>
                  <a:lnTo>
                    <a:pt x="3285617" y="38100"/>
                  </a:lnTo>
                  <a:lnTo>
                    <a:pt x="5228336" y="38100"/>
                  </a:lnTo>
                  <a:lnTo>
                    <a:pt x="5228336" y="0"/>
                  </a:lnTo>
                  <a:close/>
                  <a:moveTo>
                    <a:pt x="5353685" y="0"/>
                  </a:moveTo>
                  <a:lnTo>
                    <a:pt x="5353685" y="38100"/>
                  </a:lnTo>
                  <a:lnTo>
                    <a:pt x="5378069" y="38100"/>
                  </a:lnTo>
                  <a:lnTo>
                    <a:pt x="5378069" y="0"/>
                  </a:lnTo>
                  <a:close/>
                  <a:moveTo>
                    <a:pt x="5591556" y="0"/>
                  </a:moveTo>
                  <a:lnTo>
                    <a:pt x="5591556" y="38100"/>
                  </a:lnTo>
                  <a:lnTo>
                    <a:pt x="5685536" y="38100"/>
                  </a:lnTo>
                  <a:lnTo>
                    <a:pt x="5685536" y="0"/>
                  </a:lnTo>
                  <a:close/>
                  <a:moveTo>
                    <a:pt x="5810885" y="0"/>
                  </a:moveTo>
                  <a:lnTo>
                    <a:pt x="5810885" y="38100"/>
                  </a:lnTo>
                  <a:lnTo>
                    <a:pt x="7189724" y="38100"/>
                  </a:lnTo>
                  <a:lnTo>
                    <a:pt x="7189724" y="0"/>
                  </a:lnTo>
                  <a:close/>
                  <a:moveTo>
                    <a:pt x="7303389" y="0"/>
                  </a:moveTo>
                  <a:lnTo>
                    <a:pt x="7303389" y="38100"/>
                  </a:lnTo>
                  <a:lnTo>
                    <a:pt x="7929626" y="38100"/>
                  </a:lnTo>
                  <a:lnTo>
                    <a:pt x="7929626" y="0"/>
                  </a:lnTo>
                  <a:close/>
                  <a:moveTo>
                    <a:pt x="8054975" y="0"/>
                  </a:moveTo>
                  <a:lnTo>
                    <a:pt x="8054975" y="38100"/>
                  </a:lnTo>
                  <a:lnTo>
                    <a:pt x="8079486" y="38100"/>
                  </a:lnTo>
                  <a:lnTo>
                    <a:pt x="8079486" y="0"/>
                  </a:lnTo>
                  <a:close/>
                  <a:moveTo>
                    <a:pt x="8292846" y="0"/>
                  </a:moveTo>
                  <a:lnTo>
                    <a:pt x="8292846" y="38100"/>
                  </a:lnTo>
                  <a:lnTo>
                    <a:pt x="8826119" y="38100"/>
                  </a:lnTo>
                  <a:lnTo>
                    <a:pt x="8826119" y="0"/>
                  </a:lnTo>
                  <a:close/>
                  <a:moveTo>
                    <a:pt x="8951468" y="0"/>
                  </a:moveTo>
                  <a:lnTo>
                    <a:pt x="8951468" y="38100"/>
                  </a:lnTo>
                  <a:lnTo>
                    <a:pt x="10488041" y="38100"/>
                  </a:lnTo>
                  <a:lnTo>
                    <a:pt x="10488041" y="0"/>
                  </a:lnTo>
                  <a:close/>
                  <a:moveTo>
                    <a:pt x="10613390" y="0"/>
                  </a:moveTo>
                  <a:lnTo>
                    <a:pt x="10613390" y="38100"/>
                  </a:lnTo>
                  <a:lnTo>
                    <a:pt x="11081258" y="38100"/>
                  </a:lnTo>
                  <a:lnTo>
                    <a:pt x="11081258" y="0"/>
                  </a:lnTo>
                  <a:close/>
                  <a:moveTo>
                    <a:pt x="11206607" y="0"/>
                  </a:moveTo>
                  <a:lnTo>
                    <a:pt x="11206607" y="38100"/>
                  </a:lnTo>
                  <a:lnTo>
                    <a:pt x="12588494" y="38100"/>
                  </a:lnTo>
                  <a:lnTo>
                    <a:pt x="12588494" y="0"/>
                  </a:lnTo>
                  <a:close/>
                  <a:moveTo>
                    <a:pt x="12713843" y="0"/>
                  </a:moveTo>
                  <a:lnTo>
                    <a:pt x="12713843" y="38100"/>
                  </a:lnTo>
                  <a:lnTo>
                    <a:pt x="14170915" y="38100"/>
                  </a:lnTo>
                  <a:lnTo>
                    <a:pt x="1417091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56363" y="6117431"/>
            <a:ext cx="13250913" cy="38100"/>
            <a:chOff x="0" y="0"/>
            <a:chExt cx="13250913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50926" cy="38100"/>
            </a:xfrm>
            <a:custGeom>
              <a:avLst/>
              <a:gdLst/>
              <a:ahLst/>
              <a:cxnLst/>
              <a:rect r="r" b="b" t="t" l="l"/>
              <a:pathLst>
                <a:path h="38100" w="13250926">
                  <a:moveTo>
                    <a:pt x="0" y="0"/>
                  </a:moveTo>
                  <a:lnTo>
                    <a:pt x="0" y="38100"/>
                  </a:lnTo>
                  <a:lnTo>
                    <a:pt x="5775960" y="38100"/>
                  </a:lnTo>
                  <a:lnTo>
                    <a:pt x="5775960" y="0"/>
                  </a:lnTo>
                  <a:close/>
                  <a:moveTo>
                    <a:pt x="6046851" y="0"/>
                  </a:moveTo>
                  <a:lnTo>
                    <a:pt x="6046851" y="38100"/>
                  </a:lnTo>
                  <a:lnTo>
                    <a:pt x="8745855" y="38100"/>
                  </a:lnTo>
                  <a:lnTo>
                    <a:pt x="8745855" y="0"/>
                  </a:lnTo>
                  <a:close/>
                  <a:moveTo>
                    <a:pt x="9016746" y="0"/>
                  </a:moveTo>
                  <a:lnTo>
                    <a:pt x="9016746" y="38100"/>
                  </a:lnTo>
                  <a:lnTo>
                    <a:pt x="12895707" y="38100"/>
                  </a:lnTo>
                  <a:lnTo>
                    <a:pt x="12895707" y="0"/>
                  </a:lnTo>
                  <a:close/>
                  <a:moveTo>
                    <a:pt x="13166598" y="0"/>
                  </a:moveTo>
                  <a:lnTo>
                    <a:pt x="13166598" y="38100"/>
                  </a:lnTo>
                  <a:lnTo>
                    <a:pt x="13250926" y="38100"/>
                  </a:lnTo>
                  <a:lnTo>
                    <a:pt x="132509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456363" y="8251031"/>
            <a:ext cx="11641188" cy="38100"/>
            <a:chOff x="0" y="0"/>
            <a:chExt cx="11641188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41201" cy="38100"/>
            </a:xfrm>
            <a:custGeom>
              <a:avLst/>
              <a:gdLst/>
              <a:ahLst/>
              <a:cxnLst/>
              <a:rect r="r" b="b" t="t" l="l"/>
              <a:pathLst>
                <a:path h="38100" w="11641201">
                  <a:moveTo>
                    <a:pt x="0" y="0"/>
                  </a:moveTo>
                  <a:lnTo>
                    <a:pt x="0" y="38100"/>
                  </a:lnTo>
                  <a:lnTo>
                    <a:pt x="799973" y="38100"/>
                  </a:lnTo>
                  <a:lnTo>
                    <a:pt x="799973" y="0"/>
                  </a:lnTo>
                  <a:close/>
                  <a:moveTo>
                    <a:pt x="917194" y="0"/>
                  </a:moveTo>
                  <a:lnTo>
                    <a:pt x="917194" y="38100"/>
                  </a:lnTo>
                  <a:lnTo>
                    <a:pt x="8942197" y="38100"/>
                  </a:lnTo>
                  <a:lnTo>
                    <a:pt x="8942197" y="0"/>
                  </a:lnTo>
                  <a:close/>
                  <a:moveTo>
                    <a:pt x="9148572" y="0"/>
                  </a:moveTo>
                  <a:lnTo>
                    <a:pt x="9148572" y="38100"/>
                  </a:lnTo>
                  <a:lnTo>
                    <a:pt x="11285982" y="38100"/>
                  </a:lnTo>
                  <a:lnTo>
                    <a:pt x="11285982" y="0"/>
                  </a:lnTo>
                  <a:close/>
                  <a:moveTo>
                    <a:pt x="11556873" y="0"/>
                  </a:moveTo>
                  <a:lnTo>
                    <a:pt x="11556873" y="38100"/>
                  </a:lnTo>
                  <a:lnTo>
                    <a:pt x="11641201" y="38100"/>
                  </a:lnTo>
                  <a:lnTo>
                    <a:pt x="1164120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56363" y="3983831"/>
            <a:ext cx="10247414" cy="38100"/>
            <a:chOff x="0" y="0"/>
            <a:chExt cx="10247414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7376" cy="38100"/>
            </a:xfrm>
            <a:custGeom>
              <a:avLst/>
              <a:gdLst/>
              <a:ahLst/>
              <a:cxnLst/>
              <a:rect r="r" b="b" t="t" l="l"/>
              <a:pathLst>
                <a:path h="38100" w="10247376">
                  <a:moveTo>
                    <a:pt x="0" y="0"/>
                  </a:moveTo>
                  <a:lnTo>
                    <a:pt x="0" y="38100"/>
                  </a:lnTo>
                  <a:lnTo>
                    <a:pt x="8024368" y="38100"/>
                  </a:lnTo>
                  <a:lnTo>
                    <a:pt x="8024368" y="0"/>
                  </a:lnTo>
                  <a:close/>
                  <a:moveTo>
                    <a:pt x="8139303" y="0"/>
                  </a:moveTo>
                  <a:lnTo>
                    <a:pt x="8139303" y="38100"/>
                  </a:lnTo>
                  <a:lnTo>
                    <a:pt x="9817989" y="38100"/>
                  </a:lnTo>
                  <a:lnTo>
                    <a:pt x="9817989" y="0"/>
                  </a:lnTo>
                  <a:close/>
                  <a:moveTo>
                    <a:pt x="10088880" y="0"/>
                  </a:moveTo>
                  <a:lnTo>
                    <a:pt x="10088880" y="38100"/>
                  </a:lnTo>
                  <a:lnTo>
                    <a:pt x="10247376" y="38100"/>
                  </a:lnTo>
                  <a:lnTo>
                    <a:pt x="10247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456363" y="5584031"/>
            <a:ext cx="10017328" cy="38100"/>
            <a:chOff x="0" y="0"/>
            <a:chExt cx="10017328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17379" cy="38100"/>
            </a:xfrm>
            <a:custGeom>
              <a:avLst/>
              <a:gdLst/>
              <a:ahLst/>
              <a:cxnLst/>
              <a:rect r="r" b="b" t="t" l="l"/>
              <a:pathLst>
                <a:path h="38100" w="10017379">
                  <a:moveTo>
                    <a:pt x="0" y="0"/>
                  </a:moveTo>
                  <a:lnTo>
                    <a:pt x="0" y="38100"/>
                  </a:lnTo>
                  <a:lnTo>
                    <a:pt x="2667" y="38100"/>
                  </a:lnTo>
                  <a:lnTo>
                    <a:pt x="2667" y="0"/>
                  </a:lnTo>
                  <a:close/>
                  <a:moveTo>
                    <a:pt x="170688" y="0"/>
                  </a:moveTo>
                  <a:lnTo>
                    <a:pt x="170688" y="38100"/>
                  </a:lnTo>
                  <a:lnTo>
                    <a:pt x="336042" y="38100"/>
                  </a:lnTo>
                  <a:lnTo>
                    <a:pt x="336042" y="0"/>
                  </a:lnTo>
                  <a:close/>
                  <a:moveTo>
                    <a:pt x="504063" y="0"/>
                  </a:moveTo>
                  <a:lnTo>
                    <a:pt x="504063" y="38100"/>
                  </a:lnTo>
                  <a:lnTo>
                    <a:pt x="2052320" y="38100"/>
                  </a:lnTo>
                  <a:lnTo>
                    <a:pt x="2052320" y="0"/>
                  </a:lnTo>
                  <a:close/>
                  <a:moveTo>
                    <a:pt x="2177669" y="0"/>
                  </a:moveTo>
                  <a:lnTo>
                    <a:pt x="2177669" y="38100"/>
                  </a:lnTo>
                  <a:lnTo>
                    <a:pt x="2595626" y="38100"/>
                  </a:lnTo>
                  <a:lnTo>
                    <a:pt x="2595626" y="0"/>
                  </a:lnTo>
                  <a:close/>
                  <a:moveTo>
                    <a:pt x="2720975" y="0"/>
                  </a:moveTo>
                  <a:lnTo>
                    <a:pt x="2720975" y="38100"/>
                  </a:lnTo>
                  <a:lnTo>
                    <a:pt x="5468747" y="38100"/>
                  </a:lnTo>
                  <a:lnTo>
                    <a:pt x="5468747" y="0"/>
                  </a:lnTo>
                  <a:close/>
                  <a:moveTo>
                    <a:pt x="5594096" y="0"/>
                  </a:moveTo>
                  <a:lnTo>
                    <a:pt x="5594096" y="38100"/>
                  </a:lnTo>
                  <a:lnTo>
                    <a:pt x="6110732" y="38100"/>
                  </a:lnTo>
                  <a:lnTo>
                    <a:pt x="6110732" y="0"/>
                  </a:lnTo>
                  <a:close/>
                  <a:moveTo>
                    <a:pt x="6236081" y="0"/>
                  </a:moveTo>
                  <a:lnTo>
                    <a:pt x="6236081" y="38100"/>
                  </a:lnTo>
                  <a:lnTo>
                    <a:pt x="8187182" y="38100"/>
                  </a:lnTo>
                  <a:lnTo>
                    <a:pt x="8187182" y="0"/>
                  </a:lnTo>
                  <a:close/>
                  <a:moveTo>
                    <a:pt x="8312531" y="0"/>
                  </a:moveTo>
                  <a:lnTo>
                    <a:pt x="8312531" y="38100"/>
                  </a:lnTo>
                  <a:lnTo>
                    <a:pt x="8337042" y="38100"/>
                  </a:lnTo>
                  <a:lnTo>
                    <a:pt x="8337042" y="0"/>
                  </a:lnTo>
                  <a:close/>
                  <a:moveTo>
                    <a:pt x="8550402" y="0"/>
                  </a:moveTo>
                  <a:lnTo>
                    <a:pt x="8550402" y="38100"/>
                  </a:lnTo>
                  <a:lnTo>
                    <a:pt x="8796528" y="38100"/>
                  </a:lnTo>
                  <a:lnTo>
                    <a:pt x="8796528" y="0"/>
                  </a:lnTo>
                  <a:close/>
                  <a:moveTo>
                    <a:pt x="8920988" y="0"/>
                  </a:moveTo>
                  <a:lnTo>
                    <a:pt x="8920988" y="38100"/>
                  </a:lnTo>
                  <a:lnTo>
                    <a:pt x="9765665" y="38100"/>
                  </a:lnTo>
                  <a:lnTo>
                    <a:pt x="9765665" y="0"/>
                  </a:lnTo>
                  <a:close/>
                  <a:moveTo>
                    <a:pt x="9890125" y="0"/>
                  </a:moveTo>
                  <a:lnTo>
                    <a:pt x="9890125" y="38100"/>
                  </a:lnTo>
                  <a:lnTo>
                    <a:pt x="10017379" y="38100"/>
                  </a:lnTo>
                  <a:lnTo>
                    <a:pt x="1001737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456363" y="8784431"/>
            <a:ext cx="6424460" cy="38100"/>
            <a:chOff x="0" y="0"/>
            <a:chExt cx="642446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24422" cy="38100"/>
            </a:xfrm>
            <a:custGeom>
              <a:avLst/>
              <a:gdLst/>
              <a:ahLst/>
              <a:cxnLst/>
              <a:rect r="r" b="b" t="t" l="l"/>
              <a:pathLst>
                <a:path h="38100" w="6424422">
                  <a:moveTo>
                    <a:pt x="0" y="0"/>
                  </a:moveTo>
                  <a:lnTo>
                    <a:pt x="0" y="38100"/>
                  </a:lnTo>
                  <a:lnTo>
                    <a:pt x="2667" y="38100"/>
                  </a:lnTo>
                  <a:lnTo>
                    <a:pt x="2667" y="0"/>
                  </a:lnTo>
                  <a:close/>
                  <a:moveTo>
                    <a:pt x="170688" y="0"/>
                  </a:moveTo>
                  <a:lnTo>
                    <a:pt x="170688" y="38100"/>
                  </a:lnTo>
                  <a:lnTo>
                    <a:pt x="343662" y="38100"/>
                  </a:lnTo>
                  <a:lnTo>
                    <a:pt x="343662" y="0"/>
                  </a:lnTo>
                  <a:close/>
                  <a:moveTo>
                    <a:pt x="511683" y="0"/>
                  </a:moveTo>
                  <a:lnTo>
                    <a:pt x="511683" y="38100"/>
                  </a:lnTo>
                  <a:lnTo>
                    <a:pt x="1069975" y="38100"/>
                  </a:lnTo>
                  <a:lnTo>
                    <a:pt x="1069975" y="0"/>
                  </a:lnTo>
                  <a:close/>
                  <a:moveTo>
                    <a:pt x="1184910" y="0"/>
                  </a:moveTo>
                  <a:lnTo>
                    <a:pt x="1184910" y="38100"/>
                  </a:lnTo>
                  <a:lnTo>
                    <a:pt x="1939544" y="38100"/>
                  </a:lnTo>
                  <a:lnTo>
                    <a:pt x="1939544" y="0"/>
                  </a:lnTo>
                  <a:close/>
                  <a:moveTo>
                    <a:pt x="2056892" y="0"/>
                  </a:moveTo>
                  <a:lnTo>
                    <a:pt x="2056892" y="38100"/>
                  </a:lnTo>
                  <a:lnTo>
                    <a:pt x="6424422" y="38100"/>
                  </a:lnTo>
                  <a:lnTo>
                    <a:pt x="642442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392860" y="4987128"/>
            <a:ext cx="15226055" cy="165097"/>
            <a:chOff x="0" y="0"/>
            <a:chExt cx="15226055" cy="165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4303776" cy="38100"/>
            </a:xfrm>
            <a:custGeom>
              <a:avLst/>
              <a:gdLst/>
              <a:ahLst/>
              <a:cxnLst/>
              <a:rect r="r" b="b" t="t" l="l"/>
              <a:pathLst>
                <a:path h="38100" w="4303776">
                  <a:moveTo>
                    <a:pt x="0" y="0"/>
                  </a:moveTo>
                  <a:lnTo>
                    <a:pt x="0" y="38100"/>
                  </a:lnTo>
                  <a:lnTo>
                    <a:pt x="1890268" y="38100"/>
                  </a:lnTo>
                  <a:lnTo>
                    <a:pt x="1890268" y="0"/>
                  </a:lnTo>
                  <a:close/>
                  <a:moveTo>
                    <a:pt x="2005203" y="0"/>
                  </a:moveTo>
                  <a:lnTo>
                    <a:pt x="2005203" y="38100"/>
                  </a:lnTo>
                  <a:lnTo>
                    <a:pt x="4303776" y="38100"/>
                  </a:lnTo>
                  <a:lnTo>
                    <a:pt x="43037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367276" y="63500"/>
              <a:ext cx="10795254" cy="38100"/>
            </a:xfrm>
            <a:custGeom>
              <a:avLst/>
              <a:gdLst/>
              <a:ahLst/>
              <a:cxnLst/>
              <a:rect r="r" b="b" t="t" l="l"/>
              <a:pathLst>
                <a:path h="38100" w="10795254">
                  <a:moveTo>
                    <a:pt x="0" y="0"/>
                  </a:moveTo>
                  <a:lnTo>
                    <a:pt x="0" y="38100"/>
                  </a:lnTo>
                  <a:lnTo>
                    <a:pt x="555625" y="38100"/>
                  </a:lnTo>
                  <a:lnTo>
                    <a:pt x="555625" y="0"/>
                  </a:lnTo>
                  <a:close/>
                  <a:moveTo>
                    <a:pt x="670560" y="0"/>
                  </a:moveTo>
                  <a:lnTo>
                    <a:pt x="670560" y="38100"/>
                  </a:lnTo>
                  <a:lnTo>
                    <a:pt x="6834505" y="38100"/>
                  </a:lnTo>
                  <a:lnTo>
                    <a:pt x="6834505" y="0"/>
                  </a:lnTo>
                  <a:close/>
                  <a:moveTo>
                    <a:pt x="6949439" y="0"/>
                  </a:moveTo>
                  <a:lnTo>
                    <a:pt x="6949439" y="38100"/>
                  </a:lnTo>
                  <a:lnTo>
                    <a:pt x="7304277" y="38100"/>
                  </a:lnTo>
                  <a:lnTo>
                    <a:pt x="7304277" y="0"/>
                  </a:lnTo>
                  <a:close/>
                  <a:moveTo>
                    <a:pt x="7419212" y="0"/>
                  </a:moveTo>
                  <a:lnTo>
                    <a:pt x="7419212" y="38100"/>
                  </a:lnTo>
                  <a:lnTo>
                    <a:pt x="10127869" y="38100"/>
                  </a:lnTo>
                  <a:lnTo>
                    <a:pt x="10127869" y="0"/>
                  </a:lnTo>
                  <a:close/>
                  <a:moveTo>
                    <a:pt x="10242804" y="0"/>
                  </a:moveTo>
                  <a:lnTo>
                    <a:pt x="10242804" y="38100"/>
                  </a:lnTo>
                  <a:lnTo>
                    <a:pt x="10795254" y="38100"/>
                  </a:lnTo>
                  <a:lnTo>
                    <a:pt x="1079525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496726" y="3450431"/>
            <a:ext cx="9543755" cy="38100"/>
            <a:chOff x="0" y="0"/>
            <a:chExt cx="9543758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43796" cy="38100"/>
            </a:xfrm>
            <a:custGeom>
              <a:avLst/>
              <a:gdLst/>
              <a:ahLst/>
              <a:cxnLst/>
              <a:rect r="r" b="b" t="t" l="l"/>
              <a:pathLst>
                <a:path h="38100" w="9543796">
                  <a:moveTo>
                    <a:pt x="0" y="0"/>
                  </a:moveTo>
                  <a:lnTo>
                    <a:pt x="0" y="38100"/>
                  </a:lnTo>
                  <a:lnTo>
                    <a:pt x="555625" y="38100"/>
                  </a:lnTo>
                  <a:lnTo>
                    <a:pt x="555625" y="0"/>
                  </a:lnTo>
                  <a:close/>
                  <a:moveTo>
                    <a:pt x="670560" y="0"/>
                  </a:moveTo>
                  <a:lnTo>
                    <a:pt x="670560" y="38100"/>
                  </a:lnTo>
                  <a:lnTo>
                    <a:pt x="1386586" y="38100"/>
                  </a:lnTo>
                  <a:lnTo>
                    <a:pt x="1386586" y="0"/>
                  </a:lnTo>
                  <a:close/>
                  <a:moveTo>
                    <a:pt x="1501521" y="0"/>
                  </a:moveTo>
                  <a:lnTo>
                    <a:pt x="1501521" y="38100"/>
                  </a:lnTo>
                  <a:lnTo>
                    <a:pt x="1677035" y="38100"/>
                  </a:lnTo>
                  <a:lnTo>
                    <a:pt x="1677035" y="0"/>
                  </a:lnTo>
                  <a:close/>
                  <a:moveTo>
                    <a:pt x="1794383" y="0"/>
                  </a:moveTo>
                  <a:lnTo>
                    <a:pt x="1794383" y="38100"/>
                  </a:lnTo>
                  <a:lnTo>
                    <a:pt x="2600325" y="38100"/>
                  </a:lnTo>
                  <a:lnTo>
                    <a:pt x="2600325" y="0"/>
                  </a:lnTo>
                  <a:close/>
                  <a:moveTo>
                    <a:pt x="2871216" y="0"/>
                  </a:moveTo>
                  <a:lnTo>
                    <a:pt x="2871216" y="38100"/>
                  </a:lnTo>
                  <a:lnTo>
                    <a:pt x="9543796" y="38100"/>
                  </a:lnTo>
                  <a:lnTo>
                    <a:pt x="954379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57300" y="1377125"/>
            <a:ext cx="5303349" cy="66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b="true" sz="66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Referências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4419" y="2158841"/>
            <a:ext cx="111538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6363" y="2473166"/>
            <a:ext cx="14342012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[1]PyImageSearch.Siame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2" tooltip="https://pyimagesearch.com/2020/11/30/siamese-networks-with-keras-tensorflow-and-deep-learning/"/>
              </a:rPr>
              <a:t>seNetworks with Keras, TensorFlow, and Deep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6363" y="3006566"/>
            <a:ext cx="15401039" cy="585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3" tooltip="https://pyimagesearch.com/2020/11/30/siamese-networks-with-keras-tensorflow-and-deep-learning/"/>
              </a:rPr>
              <a:t>Learning. Disponível em: https://pyimagesearch.com/2020/11/30/siamese- networks-with-keras-tensorflow-and-deep-learning/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[2] Koch, G. et al. Sia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4" tooltip="https://www.cs.cmu.edu/~rsalakhu/papers/oneshot1.pdf"/>
              </a:rPr>
              <a:t>mese Neural Networks for One-shot Image Recognition.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CMU. Disponível em: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5" tooltip="https://www.cs.cmu.edu/~rsalakhu/papers/oneshot1.pdf"/>
              </a:rPr>
              <a:t>https://www.cs.cmu.edu/~rsalakhu/papers/oneshot1.pdf </a:t>
            </a: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[3] Schroff, F., Kalenichenko, D., &amp; Philbin, J. (2015). FaceNet: A Unified Embedding for Face Recognition and Clustering.  CVPR. [5] Bertinetto, L., Valmadre, J., Henriques, J. F., Vedaldi, A., &amp; Torr, P. H. S. (2016). Fully-Convolutional Siamese Networks for Object Tracking. [6]https://youtu.be/uPSAk27B-Xs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1733" y="4029542"/>
            <a:ext cx="6718735" cy="1702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b="true" sz="990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Obrigada!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8532" y="3653495"/>
            <a:ext cx="5050927" cy="5050927"/>
          </a:xfrm>
          <a:custGeom>
            <a:avLst/>
            <a:gdLst/>
            <a:ahLst/>
            <a:cxnLst/>
            <a:rect r="r" b="b" t="t" l="l"/>
            <a:pathLst>
              <a:path h="5050927" w="5050927">
                <a:moveTo>
                  <a:pt x="0" y="0"/>
                </a:moveTo>
                <a:lnTo>
                  <a:pt x="5050926" y="0"/>
                </a:lnTo>
                <a:lnTo>
                  <a:pt x="5050926" y="5050926"/>
                </a:lnTo>
                <a:lnTo>
                  <a:pt x="0" y="505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7731" y="2092919"/>
            <a:ext cx="1627546" cy="1530010"/>
          </a:xfrm>
          <a:custGeom>
            <a:avLst/>
            <a:gdLst/>
            <a:ahLst/>
            <a:cxnLst/>
            <a:rect r="r" b="b" t="t" l="l"/>
            <a:pathLst>
              <a:path h="1530010" w="1627546">
                <a:moveTo>
                  <a:pt x="0" y="0"/>
                </a:moveTo>
                <a:lnTo>
                  <a:pt x="1627546" y="0"/>
                </a:lnTo>
                <a:lnTo>
                  <a:pt x="1627546" y="1530010"/>
                </a:lnTo>
                <a:lnTo>
                  <a:pt x="0" y="1530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6919" y="1958273"/>
            <a:ext cx="7235828" cy="158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b="true" sz="919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Formulário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DAGxvXZSdM4</dc:identifier>
  <dcterms:modified xsi:type="dcterms:W3CDTF">2011-08-01T06:04:30Z</dcterms:modified>
  <cp:revision>1</cp:revision>
  <dc:title>TP558_X_Template.pptx (1).pdf</dc:title>
</cp:coreProperties>
</file>